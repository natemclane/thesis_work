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345" r:id="rId3"/>
    <p:sldId id="369" r:id="rId4"/>
    <p:sldId id="366" r:id="rId5"/>
    <p:sldId id="370" r:id="rId6"/>
    <p:sldId id="354" r:id="rId7"/>
    <p:sldId id="355" r:id="rId8"/>
    <p:sldId id="374" r:id="rId9"/>
    <p:sldId id="357" r:id="rId10"/>
    <p:sldId id="361" r:id="rId11"/>
    <p:sldId id="346" r:id="rId12"/>
    <p:sldId id="356" r:id="rId13"/>
    <p:sldId id="362" r:id="rId14"/>
    <p:sldId id="363" r:id="rId15"/>
    <p:sldId id="364" r:id="rId16"/>
    <p:sldId id="358" r:id="rId17"/>
    <p:sldId id="359" r:id="rId18"/>
    <p:sldId id="368" r:id="rId19"/>
    <p:sldId id="360" r:id="rId20"/>
    <p:sldId id="372" r:id="rId21"/>
    <p:sldId id="373" r:id="rId22"/>
    <p:sldId id="371" r:id="rId23"/>
    <p:sldId id="348" r:id="rId24"/>
    <p:sldId id="375" r:id="rId25"/>
    <p:sldId id="349" r:id="rId26"/>
    <p:sldId id="350" r:id="rId27"/>
    <p:sldId id="352" r:id="rId28"/>
    <p:sldId id="353" r:id="rId29"/>
    <p:sldId id="365" r:id="rId30"/>
    <p:sldId id="35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42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0875D-54AB-4FD3-86C4-85D158C69A95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C4078-82A8-43EB-B185-B2F2CBADD1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942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042D5-BA8E-6B6D-AFB1-9C5371365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C45E2-18AE-F559-ECDD-C4DDC63D3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DD1CB-3E9B-9A27-B42F-4AD7C416A1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D9D05-99D0-1A2B-8418-432505A38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142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Psi is the eigenstates of H not T and 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645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4B331-E04D-B765-BCA9-9336E5B97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10B54-EB7E-4CA4-D29F-78EFFA512B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6560A-6F69-3E7A-2EBA-D6D22D70E2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Psi is the eigenstates of H not T and V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2EAA2-170D-6F86-0D5F-84080A66E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72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D3229-ADAA-1766-E4A3-8081529A9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1E1E2-F48F-D150-8BE5-B8EC3889F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6A222-CFC7-AAC9-0A9C-DEC43856C8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F2464-683F-3314-A43F-EA24BF95B5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2531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B636-E1CC-644B-5754-A4C1866C8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8FF60-529F-CDC3-0E72-484A88644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6765CE-7D3F-C17D-6B6C-6B7E066F9A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DB7BE-8F39-9630-8433-14456E454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90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777FD-356B-9221-D354-C7F8474C9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DB0BFD-381C-3E1C-3FB6-F29D9F8AE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4FD05-1766-DB26-F366-3340F3C8E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A24A7-ADBC-F605-2047-495207A922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39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F331-8A84-A786-3723-39A6263F2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BA1D02-5206-2C11-C5E2-4B1FB3E0E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65488-F5E4-35C9-1F99-F4C25C531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C9E10B-6B86-4294-B3EB-E721DBDE7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52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B649C-AFE5-D055-12E7-C4F192A7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2679A-DEC2-0EA7-0E8E-394FB6C5E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CA316-3E65-2508-F40E-9CF79C1DFB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A3CE4-93C0-7D20-26D4-B84F04E9E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9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55FCB-F73E-2D26-BFD7-2EFF3892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FBC296-5FB9-E094-0725-9338B629C2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CE41C-AFF9-9CC7-1B4D-78F8A211EF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88E7F-302E-54E4-920A-3546A0FC4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C4078-82A8-43EB-B185-B2F2CBADD17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83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F2E5-9639-4367-FD26-5FE1528B9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06FA04-9F3E-6DA3-B4B4-8944666A0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158D2-700C-6945-6FEC-C1218B8AC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5FF8-9B41-9A65-BEBD-51FD35C0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29B06BB-ECEA-A780-7B87-2286B52895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376" y="136525"/>
            <a:ext cx="3624079" cy="69494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B1B98-A9BB-EFDE-EA75-B9329F762A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66" y="6538912"/>
            <a:ext cx="2743200" cy="365125"/>
          </a:xfrm>
        </p:spPr>
        <p:txBody>
          <a:bodyPr/>
          <a:lstStyle>
            <a:lvl1pPr>
              <a:defRPr sz="20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6/18/2024</a:t>
            </a:r>
          </a:p>
        </p:txBody>
      </p:sp>
      <p:pic>
        <p:nvPicPr>
          <p:cNvPr id="8" name="Picture 7" descr="A picture containing graphics, graphic design, circle, anime&#10;&#10;Description automatically generated">
            <a:extLst>
              <a:ext uri="{FF2B5EF4-FFF2-40B4-BE49-F238E27FC236}">
                <a16:creationId xmlns:a16="http://schemas.microsoft.com/office/drawing/2014/main" id="{960E695E-D35D-D082-87FE-2DCC83B1920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54801"/>
            <a:ext cx="1085985" cy="107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59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FDA00-1BEB-8329-E3AF-7C6FC7DD9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81B7D-F153-56A5-2860-882476A21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B98F81-FE95-FE87-DC4C-3709F39C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F48E-93DE-46D9-AEC8-821EC00EC969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F3D77-B5B9-3136-87A3-B5C232E3D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46ED5-4B0F-5329-D18D-956E8FB7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166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53954-E90A-55D7-56C9-A3B50E9E3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838F1-113C-691E-BCCF-CCF15CD2F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0A7E3-110C-9413-C1A7-170B7532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7A8AE-EA18-4253-BB49-EB6E15586E2F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3D763-4C0D-2418-BFBF-F1E1FF91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709F6-7376-CC5C-5C60-952E1017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2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C9DC2-02ED-E15F-E743-7636135F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80214-F66D-DC3E-A431-D5781277E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96A62-DEE7-953E-5A05-ADCD90819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33A37-B868-F909-A139-7A072DB98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285CD-7A97-48BF-AD64-C0A2D36506F0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8F8A7-819D-C27E-BBFB-AA5EAA068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245D4-7827-D512-98B1-7F60A1D3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1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DFFE-C955-610D-BEA9-622F35965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5F14C-19FF-8F94-302C-0BF9E1AB0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EECD9-FD28-B0E5-5264-60A44AEAC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5925A-9869-0D23-B3CF-7CC71F5A1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21ECD-8BBF-6536-E219-591FD3C6B3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AD9F2-ED6A-C587-17A1-561DF88D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C3BFD-9992-4BB7-9F19-2E396D32F762}" type="datetime1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914B8-A344-009A-1729-DBB8D1AA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0238C-E8B5-1F59-0F95-32DB2832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5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E724-E6EB-B8B5-61E1-604DB05E3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6C374D-6F1C-D967-7908-CE5B4D7B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649C-B655-41E9-99FE-2F74F70E48DF}" type="datetime1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A3241-2DAD-D0F6-67B5-513166F8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0879C-232B-34A4-F77B-39E5580BD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2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AA0B2A-AC68-CD55-3DEB-1A463A25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1C00D-7C28-4EED-89F0-19C5B45AE162}" type="datetime1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6DD624-A6E7-857B-F4A6-3823737BA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7D643-2762-4B88-A776-3A554463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887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18E0A-BB4D-AA0A-719C-1F079625F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587F5-CA7D-1719-D58A-12E566AC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7C43C-482C-90D1-435F-A8F5D5BE2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252C-1E3E-0E75-6C44-67C348D7F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5B6FA-265F-4693-8E64-46578EC86B44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FC964-DFE2-A202-8729-4875D185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01E6B-1717-B891-18D1-293FE98E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646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DFC15-4900-93C9-20A7-1D8D3F4A2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6F1A7A-B99F-3069-3112-29D93DD35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32CD5D-3168-71B7-3C53-9F38B9B3B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3CB38-1AE6-E640-CD71-37C439109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6684-C53F-4E68-B117-9B559F418D55}" type="datetime1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AFFF7-BE42-46F3-E6AC-9217DA025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43DB47-8019-23FF-EFA8-014B8778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46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81F2E-1434-E3EE-940D-1A360103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7E82A-8F92-E8BF-7C2C-24F0D4E3E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9352D-8AC9-8A18-8898-A9810E46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72D7F-56C6-4BD7-98EF-D6D5CD0CD267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5DDB-9BBB-B11F-11F1-1D340455F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FF716-0F5A-75D5-F193-0E03290CA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5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D8F0D2-FEA6-45DD-795E-C0A167A15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114B4-8E00-0C3F-0029-D65A6BC15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20981-6D14-98E9-926F-C6AC3D7A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2F4AC-9288-4A4D-A099-55DB6A509EE6}" type="datetime1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4D248-FBB3-54E1-65AB-2510DEFF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7C700-D296-B821-6E50-CCC3EF5C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9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C9CAB-19B8-628B-D010-0366FBA13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4242F3-85E9-FC98-CB93-6A3EA9186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7ABCD-9482-9B86-A050-2FA10D948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246FBF-AEED-41A7-96FE-8368D6E3385C}" type="datetime1">
              <a:rPr lang="en-US" smtClean="0"/>
              <a:t>4/20/2026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5EC1F-9445-68D2-9DB4-313B292BA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E27E25-C436-3251-5B7E-25D6FF63A531}"/>
              </a:ext>
            </a:extLst>
          </p:cNvPr>
          <p:cNvSpPr/>
          <p:nvPr userDrawn="1"/>
        </p:nvSpPr>
        <p:spPr>
          <a:xfrm>
            <a:off x="4059936" y="6611815"/>
            <a:ext cx="4059935" cy="2461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E3E275-1656-AF65-9765-AD22F6E84572}"/>
              </a:ext>
            </a:extLst>
          </p:cNvPr>
          <p:cNvSpPr/>
          <p:nvPr userDrawn="1"/>
        </p:nvSpPr>
        <p:spPr>
          <a:xfrm>
            <a:off x="0" y="6611815"/>
            <a:ext cx="4059936" cy="24618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18FFF3-D01E-6B7C-EF57-969016E225D4}"/>
              </a:ext>
            </a:extLst>
          </p:cNvPr>
          <p:cNvSpPr/>
          <p:nvPr userDrawn="1"/>
        </p:nvSpPr>
        <p:spPr>
          <a:xfrm>
            <a:off x="8113207" y="6611815"/>
            <a:ext cx="4114800" cy="24618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4B302-50C7-C26B-A9F9-557228B67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13985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  </a:t>
            </a:r>
            <a:fld id="{C94C76D9-31E3-448D-A7C2-9B210348CB4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09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1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82F2-76BD-5891-27E7-5CE6EFD292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dirty="0"/>
              <a:t>The Hellman-Feynman Theorem: An underutilized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98D630-4048-BAA0-8AF5-AAB0DD97B0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u="sng" dirty="0"/>
              <a:t>Nathan McLane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381B5-82F5-250A-347E-CA637CC1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</a:t>
            </a:fld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A57026A-F2EA-81E3-4750-21AD0D4F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1/12/2026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EB38FF-79E3-046A-D33F-BCEA6CE9AB80}"/>
                  </a:ext>
                </a:extLst>
              </p:cNvPr>
              <p:cNvSpPr txBox="1"/>
              <p:nvPr/>
            </p:nvSpPr>
            <p:spPr>
              <a:xfrm>
                <a:off x="3175513" y="4510771"/>
                <a:ext cx="6138472" cy="1027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EB38FF-79E3-046A-D33F-BCEA6CE9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513" y="4510771"/>
                <a:ext cx="6138472" cy="10273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1343B8DC-B8E7-6CFC-ED55-B9823A88B5CA}"/>
              </a:ext>
            </a:extLst>
          </p:cNvPr>
          <p:cNvSpPr txBox="1">
            <a:spLocks/>
          </p:cNvSpPr>
          <p:nvPr/>
        </p:nvSpPr>
        <p:spPr>
          <a:xfrm>
            <a:off x="-2070634" y="5992552"/>
            <a:ext cx="9144000" cy="7289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Powered by ChatGPT</a:t>
            </a:r>
          </a:p>
        </p:txBody>
      </p:sp>
    </p:spTree>
    <p:extLst>
      <p:ext uri="{BB962C8B-B14F-4D97-AF65-F5344CB8AC3E}">
        <p14:creationId xmlns:p14="http://schemas.microsoft.com/office/powerpoint/2010/main" val="189742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5805-120D-7EC2-4F86-DD5FFB12C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608C0-36E0-C1E1-565F-6DF77D07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30CEC-DC98-EB10-0DBA-39D995950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0BB32F-F954-BCAA-BD35-DFCBFC46D31F}"/>
              </a:ext>
            </a:extLst>
          </p:cNvPr>
          <p:cNvSpPr/>
          <p:nvPr/>
        </p:nvSpPr>
        <p:spPr>
          <a:xfrm>
            <a:off x="5838825" y="2577857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C28B5-7ED0-4F2C-58D3-AC7E88FAD5A6}"/>
              </a:ext>
            </a:extLst>
          </p:cNvPr>
          <p:cNvSpPr/>
          <p:nvPr/>
        </p:nvSpPr>
        <p:spPr>
          <a:xfrm>
            <a:off x="8574530" y="2577857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6496E1-4091-D992-326C-5241A8926A77}"/>
              </a:ext>
            </a:extLst>
          </p:cNvPr>
          <p:cNvSpPr/>
          <p:nvPr/>
        </p:nvSpPr>
        <p:spPr>
          <a:xfrm>
            <a:off x="5979514" y="4149482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72479C-BFFE-73EB-DE1E-9AAF416EB4AF}"/>
              </a:ext>
            </a:extLst>
          </p:cNvPr>
          <p:cNvSpPr/>
          <p:nvPr/>
        </p:nvSpPr>
        <p:spPr>
          <a:xfrm>
            <a:off x="8715219" y="4149482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E28423-8098-6062-F129-50E3942022DD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pic>
        <p:nvPicPr>
          <p:cNvPr id="15" name="Picture 14" descr="A math equations with symbols&#10;&#10;AI-generated content may be incorrect.">
            <a:extLst>
              <a:ext uri="{FF2B5EF4-FFF2-40B4-BE49-F238E27FC236}">
                <a16:creationId xmlns:a16="http://schemas.microsoft.com/office/drawing/2014/main" id="{EADC6D63-B98D-F8FE-75CE-F04B6EF725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940" y="1564701"/>
            <a:ext cx="6058746" cy="338184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5922E8-D343-81AC-B1E9-F7DA78E5AB5E}"/>
              </a:ext>
            </a:extLst>
          </p:cNvPr>
          <p:cNvSpPr/>
          <p:nvPr/>
        </p:nvSpPr>
        <p:spPr>
          <a:xfrm>
            <a:off x="2785477" y="2200265"/>
            <a:ext cx="5789053" cy="674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0A2D5B-2395-8150-8093-513A7177EA07}"/>
              </a:ext>
            </a:extLst>
          </p:cNvPr>
          <p:cNvSpPr/>
          <p:nvPr/>
        </p:nvSpPr>
        <p:spPr>
          <a:xfrm>
            <a:off x="2768925" y="2890264"/>
            <a:ext cx="5789053" cy="674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126F40-15B3-D13B-3D3D-31ECE605DEC1}"/>
              </a:ext>
            </a:extLst>
          </p:cNvPr>
          <p:cNvSpPr/>
          <p:nvPr/>
        </p:nvSpPr>
        <p:spPr>
          <a:xfrm>
            <a:off x="2785477" y="3530686"/>
            <a:ext cx="5789053" cy="674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C0A2FC-2C70-5E14-B057-7FDF57A38BB4}"/>
              </a:ext>
            </a:extLst>
          </p:cNvPr>
          <p:cNvSpPr/>
          <p:nvPr/>
        </p:nvSpPr>
        <p:spPr>
          <a:xfrm>
            <a:off x="2785477" y="4157071"/>
            <a:ext cx="5789053" cy="67455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3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10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5C62B-62FA-2C99-6EB4-D098FF77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40771-DCAB-7AA7-FBD1-8C740F4A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63902A-CD45-D4D1-853A-EF2EEC4E87BF}"/>
              </a:ext>
            </a:extLst>
          </p:cNvPr>
          <p:cNvGrpSpPr/>
          <p:nvPr/>
        </p:nvGrpSpPr>
        <p:grpSpPr>
          <a:xfrm>
            <a:off x="1163596" y="2974109"/>
            <a:ext cx="1256330" cy="811507"/>
            <a:chOff x="1163596" y="2974109"/>
            <a:chExt cx="1256330" cy="811507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DD92D56-1678-34CB-AF46-5A281DC82D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8EC5B10-1A07-0277-39A1-A717ABA78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1D47A2-07F5-4466-51A0-7BE82920A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857" y="2161832"/>
            <a:ext cx="1145357" cy="8115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/>
              <a:t>Hellman and Feynman derive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855B042-9FA9-C499-9FF6-55BA9B25D51B}"/>
              </a:ext>
            </a:extLst>
          </p:cNvPr>
          <p:cNvSpPr txBox="1">
            <a:spLocks/>
          </p:cNvSpPr>
          <p:nvPr/>
        </p:nvSpPr>
        <p:spPr>
          <a:xfrm>
            <a:off x="1178004" y="3092305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1939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501BF4B-117F-9B4B-A319-D5FE94C2FF4A}"/>
              </a:ext>
            </a:extLst>
          </p:cNvPr>
          <p:cNvSpPr txBox="1">
            <a:spLocks/>
          </p:cNvSpPr>
          <p:nvPr/>
        </p:nvSpPr>
        <p:spPr>
          <a:xfrm>
            <a:off x="3524381" y="4191369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1945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54CB518-7A30-5446-CD66-C35AD423367E}"/>
              </a:ext>
            </a:extLst>
          </p:cNvPr>
          <p:cNvGrpSpPr/>
          <p:nvPr/>
        </p:nvGrpSpPr>
        <p:grpSpPr>
          <a:xfrm rot="10800000">
            <a:off x="2969461" y="3785616"/>
            <a:ext cx="1256330" cy="811507"/>
            <a:chOff x="1163596" y="2974109"/>
            <a:chExt cx="1256330" cy="81150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A911F42-6D78-FA10-E042-EB6D47442B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6BC8F3C-E3D1-2CAE-3826-F243FDEAF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918D07F-AB38-EB57-D060-7EA128CE9F03}"/>
              </a:ext>
            </a:extLst>
          </p:cNvPr>
          <p:cNvSpPr txBox="1">
            <a:spLocks/>
          </p:cNvSpPr>
          <p:nvPr/>
        </p:nvSpPr>
        <p:spPr>
          <a:xfrm>
            <a:off x="2969460" y="4708178"/>
            <a:ext cx="1639485" cy="811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Coulson and Bell said it was invalid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41DB7D-8CCB-7B2E-36BA-F25783994173}"/>
              </a:ext>
            </a:extLst>
          </p:cNvPr>
          <p:cNvGrpSpPr/>
          <p:nvPr/>
        </p:nvGrpSpPr>
        <p:grpSpPr>
          <a:xfrm>
            <a:off x="3456770" y="2988770"/>
            <a:ext cx="1256330" cy="811507"/>
            <a:chOff x="1163596" y="2974109"/>
            <a:chExt cx="1256330" cy="811507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3127E01-5E26-6FA3-B567-B9043DFF6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2096517-D2DF-D156-B358-1026256D7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7CAA5A92-2B06-55EF-B606-8C5E145E3D69}"/>
              </a:ext>
            </a:extLst>
          </p:cNvPr>
          <p:cNvSpPr txBox="1">
            <a:spLocks/>
          </p:cNvSpPr>
          <p:nvPr/>
        </p:nvSpPr>
        <p:spPr>
          <a:xfrm>
            <a:off x="3030359" y="2568355"/>
            <a:ext cx="3059545" cy="8115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Berlin saved it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B7AA9C3B-C319-BACD-263E-0440402A79DD}"/>
              </a:ext>
            </a:extLst>
          </p:cNvPr>
          <p:cNvSpPr txBox="1">
            <a:spLocks/>
          </p:cNvSpPr>
          <p:nvPr/>
        </p:nvSpPr>
        <p:spPr>
          <a:xfrm>
            <a:off x="3465051" y="3114054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1951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D641C29-C98F-F022-FD81-76680980ABC1}"/>
              </a:ext>
            </a:extLst>
          </p:cNvPr>
          <p:cNvGrpSpPr/>
          <p:nvPr/>
        </p:nvGrpSpPr>
        <p:grpSpPr>
          <a:xfrm rot="10800000">
            <a:off x="5722479" y="3805060"/>
            <a:ext cx="1256330" cy="811507"/>
            <a:chOff x="1163596" y="2974109"/>
            <a:chExt cx="1256330" cy="8115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6931AF-7889-509E-0552-2EDA4A1867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EE5E855-98C4-87D8-3FBE-E0A26C9FF1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4847D340-8ABE-9DF1-0EDE-9A0D9287D8EB}"/>
              </a:ext>
            </a:extLst>
          </p:cNvPr>
          <p:cNvSpPr txBox="1">
            <a:spLocks/>
          </p:cNvSpPr>
          <p:nvPr/>
        </p:nvSpPr>
        <p:spPr>
          <a:xfrm>
            <a:off x="5998212" y="4737071"/>
            <a:ext cx="1390879" cy="811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Wilson used it to get exact molecular energies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15923A0-30AF-8B9B-D517-C2C040363C2C}"/>
              </a:ext>
            </a:extLst>
          </p:cNvPr>
          <p:cNvGrpSpPr/>
          <p:nvPr/>
        </p:nvGrpSpPr>
        <p:grpSpPr>
          <a:xfrm>
            <a:off x="6974069" y="2988770"/>
            <a:ext cx="1256330" cy="811507"/>
            <a:chOff x="1163596" y="2974109"/>
            <a:chExt cx="1256330" cy="8115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454DF84-8FA6-6FAC-BF7A-7DEFF2033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410B9A0-AFB7-86E2-6C27-6066FF23AC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D59D4E4-29BD-5BD8-A6F2-EF77E1CB34B9}"/>
              </a:ext>
            </a:extLst>
          </p:cNvPr>
          <p:cNvSpPr txBox="1">
            <a:spLocks/>
          </p:cNvSpPr>
          <p:nvPr/>
        </p:nvSpPr>
        <p:spPr>
          <a:xfrm>
            <a:off x="6839520" y="2236388"/>
            <a:ext cx="1390879" cy="811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Musher said it was trivial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A401E2A-8264-A866-E0B1-0BF22F06F6D6}"/>
              </a:ext>
            </a:extLst>
          </p:cNvPr>
          <p:cNvGrpSpPr/>
          <p:nvPr/>
        </p:nvGrpSpPr>
        <p:grpSpPr>
          <a:xfrm rot="10800000">
            <a:off x="9313985" y="3774226"/>
            <a:ext cx="1256330" cy="811507"/>
            <a:chOff x="1163596" y="2974109"/>
            <a:chExt cx="1256330" cy="811507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7335569-60B9-1AC2-43CA-B78234CEC4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32616" y="2974109"/>
              <a:ext cx="487310" cy="811507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287E4EA-B682-54F4-8E07-B97594620A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63596" y="3012994"/>
              <a:ext cx="769020" cy="0"/>
            </a:xfrm>
            <a:prstGeom prst="line">
              <a:avLst/>
            </a:prstGeom>
            <a:ln w="698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CE507E4A-80B7-C6CF-CBAF-D96CBE06E92C}"/>
              </a:ext>
            </a:extLst>
          </p:cNvPr>
          <p:cNvSpPr txBox="1">
            <a:spLocks/>
          </p:cNvSpPr>
          <p:nvPr/>
        </p:nvSpPr>
        <p:spPr>
          <a:xfrm>
            <a:off x="9557640" y="4665426"/>
            <a:ext cx="1390879" cy="81150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Slater said it was the most powerful theorem in molecular chemistry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0B42468-6156-9DE7-ABCC-9713AE67D7DC}"/>
              </a:ext>
            </a:extLst>
          </p:cNvPr>
          <p:cNvCxnSpPr/>
          <p:nvPr/>
        </p:nvCxnSpPr>
        <p:spPr>
          <a:xfrm>
            <a:off x="987552" y="3785616"/>
            <a:ext cx="10204704" cy="0"/>
          </a:xfrm>
          <a:prstGeom prst="straightConnector1">
            <a:avLst/>
          </a:prstGeom>
          <a:ln w="698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3347BDFA-0CE3-9817-7094-4CDC8D12DE4F}"/>
              </a:ext>
            </a:extLst>
          </p:cNvPr>
          <p:cNvSpPr txBox="1">
            <a:spLocks/>
          </p:cNvSpPr>
          <p:nvPr/>
        </p:nvSpPr>
        <p:spPr>
          <a:xfrm>
            <a:off x="6262620" y="4172066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1962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03154CEC-FF6C-0148-423A-52D74FEE09B9}"/>
              </a:ext>
            </a:extLst>
          </p:cNvPr>
          <p:cNvSpPr txBox="1">
            <a:spLocks/>
          </p:cNvSpPr>
          <p:nvPr/>
        </p:nvSpPr>
        <p:spPr>
          <a:xfrm>
            <a:off x="7012771" y="3141694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1966</a:t>
            </a:r>
          </a:p>
        </p:txBody>
      </p: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4C9BBF79-F99D-CD98-9FBF-444909DBFDC5}"/>
              </a:ext>
            </a:extLst>
          </p:cNvPr>
          <p:cNvSpPr txBox="1">
            <a:spLocks/>
          </p:cNvSpPr>
          <p:nvPr/>
        </p:nvSpPr>
        <p:spPr>
          <a:xfrm>
            <a:off x="9801295" y="4164467"/>
            <a:ext cx="945064" cy="3478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i="1"/>
              <a:t>1972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317E00-F3F1-C7B2-CB59-D0383F283820}"/>
              </a:ext>
            </a:extLst>
          </p:cNvPr>
          <p:cNvSpPr/>
          <p:nvPr/>
        </p:nvSpPr>
        <p:spPr>
          <a:xfrm>
            <a:off x="2849522" y="4177793"/>
            <a:ext cx="1757729" cy="137899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542BA-DE52-0F56-616C-99EEE013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Coulson and Bell invalidity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F418A8-15C5-0E79-2CAC-1FEA7499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4A06D3-708F-E4D5-1801-653E0E2691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317" y="1442864"/>
            <a:ext cx="7815385" cy="228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A0AE8C-0EFC-1E63-BDAC-2757E94D06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38" y="4273277"/>
            <a:ext cx="10793345" cy="147973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843A8A-8432-1DE7-6967-93AB651DA8B0}"/>
              </a:ext>
            </a:extLst>
          </p:cNvPr>
          <p:cNvCxnSpPr/>
          <p:nvPr/>
        </p:nvCxnSpPr>
        <p:spPr>
          <a:xfrm>
            <a:off x="5801193" y="3429000"/>
            <a:ext cx="0" cy="844277"/>
          </a:xfrm>
          <a:prstGeom prst="straightConnector1">
            <a:avLst/>
          </a:prstGeom>
          <a:ln w="920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04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3B1B3-0FC7-0CD0-3897-A0457B57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13BFD-9110-186B-5717-D8B773A12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Coulson and Bell invalidity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F9684-C068-3927-CD7C-AEFC2690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FA874-8FBE-6021-4756-A202A8CC1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317" y="1442864"/>
            <a:ext cx="7815385" cy="228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924D33-AA37-1EF4-7CD2-E235F5F340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338" y="4273277"/>
            <a:ext cx="10793345" cy="1479732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30C9CD-059A-4ED7-E957-7EE86665931C}"/>
              </a:ext>
            </a:extLst>
          </p:cNvPr>
          <p:cNvCxnSpPr/>
          <p:nvPr/>
        </p:nvCxnSpPr>
        <p:spPr>
          <a:xfrm>
            <a:off x="5801193" y="3429000"/>
            <a:ext cx="0" cy="844277"/>
          </a:xfrm>
          <a:prstGeom prst="straightConnector1">
            <a:avLst/>
          </a:prstGeom>
          <a:ln w="920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A8E72CF-0EBE-CF57-D903-34587C2ABFA4}"/>
              </a:ext>
            </a:extLst>
          </p:cNvPr>
          <p:cNvSpPr/>
          <p:nvPr/>
        </p:nvSpPr>
        <p:spPr>
          <a:xfrm>
            <a:off x="5061527" y="2162584"/>
            <a:ext cx="739666" cy="8442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740045-C824-C04D-5D56-58D44EF48E35}"/>
              </a:ext>
            </a:extLst>
          </p:cNvPr>
          <p:cNvSpPr/>
          <p:nvPr/>
        </p:nvSpPr>
        <p:spPr>
          <a:xfrm>
            <a:off x="4338924" y="2162584"/>
            <a:ext cx="722603" cy="8442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ultiplication Sign 10">
            <a:extLst>
              <a:ext uri="{FF2B5EF4-FFF2-40B4-BE49-F238E27FC236}">
                <a16:creationId xmlns:a16="http://schemas.microsoft.com/office/drawing/2014/main" id="{59AC593F-68A6-67F9-3495-9188D4ACDFC5}"/>
              </a:ext>
            </a:extLst>
          </p:cNvPr>
          <p:cNvSpPr/>
          <p:nvPr/>
        </p:nvSpPr>
        <p:spPr>
          <a:xfrm>
            <a:off x="4914507" y="3195538"/>
            <a:ext cx="1773372" cy="1077739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22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50256-06EA-900F-D73B-345FA8DA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B4BBE-18C0-A4C2-0CE5-5752620AD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Evaluating expectation values without knowing electronic wavefunctions</a:t>
            </a:r>
          </a:p>
          <a:p>
            <a:r>
              <a:rPr lang="en-US" dirty="0"/>
              <a:t>Molecular geometries</a:t>
            </a:r>
          </a:p>
          <a:p>
            <a:r>
              <a:rPr lang="en-US"/>
              <a:t>NMR</a:t>
            </a:r>
            <a:endParaRPr lang="en-US" dirty="0"/>
          </a:p>
          <a:p>
            <a:r>
              <a:rPr lang="en-US"/>
              <a:t>Dispersion interactions</a:t>
            </a:r>
          </a:p>
          <a:p>
            <a:r>
              <a:rPr lang="en-US"/>
              <a:t>Virial Equation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D0868-DE7E-9387-468B-1A4CED180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132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81AEE-7983-E21A-B966-71DD6D75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Caveats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2B9B-82D5-937E-BCD4-1D2046E55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to have the exact electronic wavefunction</a:t>
            </a:r>
          </a:p>
          <a:p>
            <a:pPr lvl="1"/>
            <a:r>
              <a:rPr lang="en-US" dirty="0"/>
              <a:t>This will be shown later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12A5A-87BF-5184-CE10-155EC05F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DE64009D-5A48-6CA5-C00A-6E115781E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8291" y="3192816"/>
            <a:ext cx="531569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802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6491A-9C22-862C-E2BE-303F75D4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B3CA4C-DEE6-B8FA-3FFB-854F5C4D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Simple expectation </a:t>
            </a:r>
            <a:r>
              <a:rPr lang="en-US"/>
              <a:t>value determination:HO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0645D7-D134-36B2-D71B-5D423B06B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73" y="1623828"/>
            <a:ext cx="3980296" cy="248995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546161E-BE13-3AFA-FBC8-0FDEA60215AE}"/>
              </a:ext>
            </a:extLst>
          </p:cNvPr>
          <p:cNvGrpSpPr/>
          <p:nvPr/>
        </p:nvGrpSpPr>
        <p:grpSpPr>
          <a:xfrm>
            <a:off x="7468632" y="2866920"/>
            <a:ext cx="3216953" cy="1602561"/>
            <a:chOff x="8011652" y="1690688"/>
            <a:chExt cx="3216953" cy="160256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F69521E-C76C-5E23-E592-E927DC3C4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65146" y="1690688"/>
              <a:ext cx="2163459" cy="1602561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8DC86B-702E-06B5-0313-65BE06967E8F}"/>
                </a:ext>
              </a:extLst>
            </p:cNvPr>
            <p:cNvSpPr txBox="1"/>
            <p:nvPr/>
          </p:nvSpPr>
          <p:spPr>
            <a:xfrm>
              <a:off x="8011652" y="2199580"/>
              <a:ext cx="10534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i="1">
                  <a:latin typeface="+mj-lt"/>
                </a:rPr>
                <a:t>E</a:t>
              </a:r>
              <a:r>
                <a:rPr lang="en-US" sz="3200" i="1" baseline="-25000">
                  <a:latin typeface="+mj-lt"/>
                </a:rPr>
                <a:t>n</a:t>
              </a:r>
              <a:r>
                <a:rPr lang="en-US" sz="3200" i="1">
                  <a:latin typeface="+mj-lt"/>
                </a:rPr>
                <a:t> =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340CAE-B439-E166-3DF2-62468CD37039}"/>
                  </a:ext>
                </a:extLst>
              </p:cNvPr>
              <p:cNvSpPr txBox="1"/>
              <p:nvPr/>
            </p:nvSpPr>
            <p:spPr>
              <a:xfrm>
                <a:off x="6244749" y="1873345"/>
                <a:ext cx="6138472" cy="1027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E340CAE-B439-E166-3DF2-62468CD37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749" y="1873345"/>
                <a:ext cx="6138472" cy="1027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567973-85CB-2CF7-1BB6-642E4044EA2F}"/>
                  </a:ext>
                </a:extLst>
              </p:cNvPr>
              <p:cNvSpPr txBox="1"/>
              <p:nvPr/>
            </p:nvSpPr>
            <p:spPr>
              <a:xfrm>
                <a:off x="1462809" y="4429441"/>
                <a:ext cx="9266382" cy="1030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nor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US" sz="3200"/>
                            <m:t>ℏ</m:t>
                          </m:r>
                          <m:r>
                            <m:rPr>
                              <m:sty m:val="p"/>
                            </m:rPr>
                            <a:rPr lang="el-GR" sz="3200" i="1" smtClean="0"/>
                            <m:t>ω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+1/2))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a:rPr lang="en-US" sz="32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/2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 +1/2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mω</m:t>
                          </m:r>
                          <m:r>
                            <a:rPr lang="en-US" sz="32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3200" b="0" i="1" baseline="3000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7567973-85CB-2CF7-1BB6-642E4044E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2809" y="4429441"/>
                <a:ext cx="9266382" cy="1030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E6E32F9-1C54-ABC2-CEA1-BFDE96D8232E}"/>
              </a:ext>
            </a:extLst>
          </p:cNvPr>
          <p:cNvSpPr txBox="1"/>
          <p:nvPr/>
        </p:nvSpPr>
        <p:spPr>
          <a:xfrm>
            <a:off x="3508408" y="3405899"/>
            <a:ext cx="989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i="1">
                <a:solidFill>
                  <a:srgbClr val="FF0000"/>
                </a:solidFill>
                <a:latin typeface="+mj-lt"/>
              </a:rPr>
              <a:t>= ?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CDC1A2-194A-F49C-C4DD-92D3A06D0239}"/>
                  </a:ext>
                </a:extLst>
              </p:cNvPr>
              <p:cNvSpPr txBox="1"/>
              <p:nvPr/>
            </p:nvSpPr>
            <p:spPr>
              <a:xfrm>
                <a:off x="1611558" y="5542538"/>
                <a:ext cx="9266382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x</m:t>
                      </m:r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 &lt;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&gt;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1CDC1A2-194A-F49C-C4DD-92D3A06D0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558" y="5542538"/>
                <a:ext cx="9266382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557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6CF80-33E0-2177-E428-65BEE95F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expectation value determination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5D972-3AC6-B8AD-6A15-AF0CF9B4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 descr="A mathematical equation with numbers and symbols&#10;&#10;AI-generated content may be incorrect.">
            <a:extLst>
              <a:ext uri="{FF2B5EF4-FFF2-40B4-BE49-F238E27FC236}">
                <a16:creationId xmlns:a16="http://schemas.microsoft.com/office/drawing/2014/main" id="{FD13BAE8-7A50-5F1A-69A1-B67B545C3C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140" y="3121897"/>
            <a:ext cx="2610214" cy="819264"/>
          </a:xfrm>
          <a:prstGeom prst="rect">
            <a:avLst/>
          </a:prstGeom>
        </p:spPr>
      </p:pic>
      <p:pic>
        <p:nvPicPr>
          <p:cNvPr id="8" name="Picture 7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E234F9E9-CC8B-2701-FCAA-BD06C94BE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07343"/>
            <a:ext cx="5706271" cy="3315163"/>
          </a:xfrm>
          <a:prstGeom prst="rect">
            <a:avLst/>
          </a:prstGeom>
        </p:spPr>
      </p:pic>
      <p:pic>
        <p:nvPicPr>
          <p:cNvPr id="10" name="Picture 9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2B035F13-ADAB-D499-6936-A580C517D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29" y="2107343"/>
            <a:ext cx="5334744" cy="905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8A05D6-F2E7-A86E-14A0-6EDB30DB0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772" y="4160267"/>
            <a:ext cx="381053" cy="62873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93B4E2F-D228-C664-975E-AA5900A20F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825" y="4050714"/>
            <a:ext cx="1390844" cy="8478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A325C8E-3964-2A59-566D-5A4EAF6F5F25}"/>
              </a:ext>
            </a:extLst>
          </p:cNvPr>
          <p:cNvSpPr/>
          <p:nvPr/>
        </p:nvSpPr>
        <p:spPr>
          <a:xfrm>
            <a:off x="8244590" y="2222563"/>
            <a:ext cx="2983044" cy="33151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EDC939-10E7-D3BE-7DFE-391EA2185C8A}"/>
              </a:ext>
            </a:extLst>
          </p:cNvPr>
          <p:cNvSpPr/>
          <p:nvPr/>
        </p:nvSpPr>
        <p:spPr>
          <a:xfrm>
            <a:off x="6009944" y="3121897"/>
            <a:ext cx="2234578" cy="2178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4DBEB4-646A-9129-04B3-95247CDB50DA}"/>
                  </a:ext>
                </a:extLst>
              </p:cNvPr>
              <p:cNvSpPr txBox="1"/>
              <p:nvPr/>
            </p:nvSpPr>
            <p:spPr>
              <a:xfrm>
                <a:off x="-413999" y="5117663"/>
                <a:ext cx="6138472" cy="1027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4DBEB4-646A-9129-04B3-95247CDB5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3999" y="5117663"/>
                <a:ext cx="6138472" cy="10273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30EA40BF-A346-F607-7C95-560609AD3A8B}"/>
              </a:ext>
            </a:extLst>
          </p:cNvPr>
          <p:cNvSpPr txBox="1"/>
          <p:nvPr/>
        </p:nvSpPr>
        <p:spPr>
          <a:xfrm>
            <a:off x="8244522" y="245190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+mj-lt"/>
              </a:rPr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D579EA-39B6-33E2-1631-F56476C3DA98}"/>
              </a:ext>
            </a:extLst>
          </p:cNvPr>
          <p:cNvSpPr/>
          <p:nvPr/>
        </p:nvSpPr>
        <p:spPr>
          <a:xfrm>
            <a:off x="6467529" y="1822398"/>
            <a:ext cx="2319713" cy="1535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1BF829-F6F9-8D73-F6A8-3AA1601F0FAE}"/>
              </a:ext>
            </a:extLst>
          </p:cNvPr>
          <p:cNvSpPr/>
          <p:nvPr/>
        </p:nvSpPr>
        <p:spPr>
          <a:xfrm>
            <a:off x="2096567" y="3055588"/>
            <a:ext cx="1601166" cy="9403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661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75B0-FDC9-22A3-4B31-ABADC22FD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6964-2BD3-EAD4-2072-FCB4DAD2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expectation value determination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B4AF8-4EC9-A5BE-3BF5-28EF3120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Picture 7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6774937D-DB37-8A87-9EE9-13C033350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82491"/>
            <a:ext cx="5706271" cy="331516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0178B7-B6BB-323A-6E9B-A6FA1D87AED3}"/>
              </a:ext>
            </a:extLst>
          </p:cNvPr>
          <p:cNvSpPr txBox="1"/>
          <p:nvPr/>
        </p:nvSpPr>
        <p:spPr>
          <a:xfrm>
            <a:off x="6544471" y="2032483"/>
            <a:ext cx="53140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>
                <a:latin typeface="+mj-lt"/>
              </a:rPr>
              <a:t>Number of radial nodes are fixed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500" i="1" dirty="0">
                <a:latin typeface="+mj-lt"/>
              </a:rPr>
              <a:t>n – l -1 = # of nodes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90774-DC8C-9B3F-7E46-609830A29BAD}"/>
                  </a:ext>
                </a:extLst>
              </p:cNvPr>
              <p:cNvSpPr txBox="1"/>
              <p:nvPr/>
            </p:nvSpPr>
            <p:spPr>
              <a:xfrm>
                <a:off x="5658787" y="3057993"/>
                <a:ext cx="1154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5D90774-DC8C-9B3F-7E46-609830A29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8787" y="3057993"/>
                <a:ext cx="115416" cy="2769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95492B9-6B74-1444-CB54-277232EC46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404" y="3429000"/>
            <a:ext cx="1114581" cy="34294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3819BEB-610D-941D-1E1A-D534F40D67EA}"/>
              </a:ext>
            </a:extLst>
          </p:cNvPr>
          <p:cNvSpPr/>
          <p:nvPr/>
        </p:nvSpPr>
        <p:spPr>
          <a:xfrm>
            <a:off x="2679768" y="2682600"/>
            <a:ext cx="2319713" cy="652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3D8D99-21AD-32FF-CF7C-B4E479225B66}"/>
              </a:ext>
            </a:extLst>
          </p:cNvPr>
          <p:cNvSpPr/>
          <p:nvPr/>
        </p:nvSpPr>
        <p:spPr>
          <a:xfrm>
            <a:off x="2513987" y="3287734"/>
            <a:ext cx="2485493" cy="684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8A2D64-B379-F483-2C2C-19E4B8E06CF9}"/>
              </a:ext>
            </a:extLst>
          </p:cNvPr>
          <p:cNvSpPr/>
          <p:nvPr/>
        </p:nvSpPr>
        <p:spPr>
          <a:xfrm>
            <a:off x="2628373" y="3927422"/>
            <a:ext cx="2319713" cy="652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F731A6-ED98-0C1E-0C3D-D83D7ECD479F}"/>
              </a:ext>
            </a:extLst>
          </p:cNvPr>
          <p:cNvSpPr/>
          <p:nvPr/>
        </p:nvSpPr>
        <p:spPr>
          <a:xfrm>
            <a:off x="2576979" y="4545262"/>
            <a:ext cx="2319713" cy="652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93D261-6511-D72C-99E9-AABC9F2FFFDB}"/>
              </a:ext>
            </a:extLst>
          </p:cNvPr>
          <p:cNvSpPr/>
          <p:nvPr/>
        </p:nvSpPr>
        <p:spPr>
          <a:xfrm>
            <a:off x="6544471" y="2030208"/>
            <a:ext cx="4967975" cy="86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A081EF-7D80-6B43-7AAA-CFF8C477E3DF}"/>
              </a:ext>
            </a:extLst>
          </p:cNvPr>
          <p:cNvSpPr/>
          <p:nvPr/>
        </p:nvSpPr>
        <p:spPr>
          <a:xfrm>
            <a:off x="6433509" y="3082128"/>
            <a:ext cx="4967975" cy="86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EF0560-1939-D151-6EA4-F97DCF477107}"/>
              </a:ext>
            </a:extLst>
          </p:cNvPr>
          <p:cNvSpPr/>
          <p:nvPr/>
        </p:nvSpPr>
        <p:spPr>
          <a:xfrm>
            <a:off x="3923921" y="3243263"/>
            <a:ext cx="1075559" cy="684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17C31E-D9D9-C34F-5BCB-C737BA0B3614}"/>
              </a:ext>
            </a:extLst>
          </p:cNvPr>
          <p:cNvGrpSpPr/>
          <p:nvPr/>
        </p:nvGrpSpPr>
        <p:grpSpPr>
          <a:xfrm>
            <a:off x="8220258" y="3829696"/>
            <a:ext cx="1771897" cy="847843"/>
            <a:chOff x="8220258" y="3503500"/>
            <a:chExt cx="1771897" cy="84784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DCA677C-1FB7-2BA2-116A-7BD45BA06F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20258" y="3613053"/>
              <a:ext cx="381053" cy="62873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4B1D72E-6E35-7480-B957-4A53110AD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01311" y="3503500"/>
              <a:ext cx="1390844" cy="847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7245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CA064-AF0F-489D-E1C8-9562FA90E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1668-E5F4-498A-A40F-64838DA8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Molecular geometries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0AC9C-775E-7F9E-D12E-5CABBEBCD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89" y="1564377"/>
            <a:ext cx="4619625" cy="4351338"/>
          </a:xfrm>
        </p:spPr>
        <p:txBody>
          <a:bodyPr>
            <a:normAutofit/>
          </a:bodyPr>
          <a:lstStyle/>
          <a:p>
            <a:r>
              <a:rPr lang="en-US" dirty="0"/>
              <a:t>Optimization of molecular geometries using just classical Coulombic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E37E-2C7C-20BD-E544-7734AEA7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32CD5F-53F5-1546-6CE1-97D6CD8827E0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pic>
        <p:nvPicPr>
          <p:cNvPr id="6" name="Picture 5" descr="A mathematical equation with a symbol&#10;&#10;AI-generated content may be incorrect.">
            <a:extLst>
              <a:ext uri="{FF2B5EF4-FFF2-40B4-BE49-F238E27FC236}">
                <a16:creationId xmlns:a16="http://schemas.microsoft.com/office/drawing/2014/main" id="{AD4DBAA6-2F66-9F9F-91F9-694A0FAAE6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865" y="4352525"/>
            <a:ext cx="3896269" cy="847843"/>
          </a:xfrm>
          <a:prstGeom prst="rect">
            <a:avLst/>
          </a:prstGeo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796784DE-F782-5E15-4E1D-4FA1005AE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285" y="3429000"/>
            <a:ext cx="6125430" cy="847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D49CAAF-4D39-E8FD-B860-5DE3E16EE382}"/>
              </a:ext>
            </a:extLst>
          </p:cNvPr>
          <p:cNvSpPr txBox="1"/>
          <p:nvPr/>
        </p:nvSpPr>
        <p:spPr>
          <a:xfrm>
            <a:off x="7727367" y="4545613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+mj-lt"/>
              </a:rPr>
              <a:t>= 0</a:t>
            </a:r>
          </a:p>
        </p:txBody>
      </p:sp>
    </p:spTree>
    <p:extLst>
      <p:ext uri="{BB962C8B-B14F-4D97-AF65-F5344CB8AC3E}">
        <p14:creationId xmlns:p14="http://schemas.microsoft.com/office/powerpoint/2010/main" val="122946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63CEE-3143-C8FD-16BF-21FC3D3A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901C8-E3EB-5864-229A-1FFA5D107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12</a:t>
            </a:fld>
            <a:endParaRPr lang="en-US" dirty="0"/>
          </a:p>
        </p:txBody>
      </p:sp>
      <p:pic>
        <p:nvPicPr>
          <p:cNvPr id="8" name="Picture 7" descr="A group of mathematical equations&#10;&#10;AI-generated content may be incorrect.">
            <a:extLst>
              <a:ext uri="{FF2B5EF4-FFF2-40B4-BE49-F238E27FC236}">
                <a16:creationId xmlns:a16="http://schemas.microsoft.com/office/drawing/2014/main" id="{0A42F241-F1BC-EA82-D5FF-683D0A762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984"/>
          <a:stretch>
            <a:fillRect/>
          </a:stretch>
        </p:blipFill>
        <p:spPr>
          <a:xfrm>
            <a:off x="2451982" y="3558936"/>
            <a:ext cx="6677957" cy="857640"/>
          </a:xfrm>
          <a:prstGeom prst="rect">
            <a:avLst/>
          </a:prstGeom>
        </p:spPr>
      </p:pic>
      <p:pic>
        <p:nvPicPr>
          <p:cNvPr id="10" name="Picture 9" descr="A mathematical equation with a symbol&#10;&#10;AI-generated content may be incorrect.">
            <a:extLst>
              <a:ext uri="{FF2B5EF4-FFF2-40B4-BE49-F238E27FC236}">
                <a16:creationId xmlns:a16="http://schemas.microsoft.com/office/drawing/2014/main" id="{CCC4359A-D5A3-4A9C-FD8E-D98845F58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856" y="2711092"/>
            <a:ext cx="3896269" cy="847843"/>
          </a:xfrm>
          <a:prstGeom prst="rect">
            <a:avLst/>
          </a:prstGeom>
        </p:spPr>
      </p:pic>
      <p:pic>
        <p:nvPicPr>
          <p:cNvPr id="12" name="Picture 11" descr="A black and white text&#10;&#10;AI-generated content may be incorrect.">
            <a:extLst>
              <a:ext uri="{FF2B5EF4-FFF2-40B4-BE49-F238E27FC236}">
                <a16:creationId xmlns:a16="http://schemas.microsoft.com/office/drawing/2014/main" id="{137C6353-2126-6778-C0BD-67E3315C1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276" y="1787567"/>
            <a:ext cx="6125430" cy="8478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8D4FDC-6B95-C6CB-E9AE-5E54DEFA0F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04" b="19025"/>
          <a:stretch>
            <a:fillRect/>
          </a:stretch>
        </p:blipFill>
        <p:spPr>
          <a:xfrm>
            <a:off x="4339153" y="4524497"/>
            <a:ext cx="2903614" cy="923524"/>
          </a:xfrm>
          <a:prstGeom prst="rect">
            <a:avLst/>
          </a:prstGeom>
        </p:spPr>
      </p:pic>
      <p:pic>
        <p:nvPicPr>
          <p:cNvPr id="11" name="Picture 10" descr="A group of mathematical equations&#10;&#10;AI-generated content may be incorrect.">
            <a:extLst>
              <a:ext uri="{FF2B5EF4-FFF2-40B4-BE49-F238E27FC236}">
                <a16:creationId xmlns:a16="http://schemas.microsoft.com/office/drawing/2014/main" id="{4F174369-A65F-A801-D69D-67FBE58FD5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84"/>
          <a:stretch>
            <a:fillRect/>
          </a:stretch>
        </p:blipFill>
        <p:spPr>
          <a:xfrm>
            <a:off x="2757021" y="5555942"/>
            <a:ext cx="6677957" cy="8576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03DA4D4-2639-697B-8F42-9F56D3E59582}"/>
              </a:ext>
            </a:extLst>
          </p:cNvPr>
          <p:cNvSpPr/>
          <p:nvPr/>
        </p:nvSpPr>
        <p:spPr>
          <a:xfrm>
            <a:off x="3612011" y="5543084"/>
            <a:ext cx="4967975" cy="861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46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823DD-9CF0-8FC2-6654-81AB0317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CB74-CDB9-2F14-BB6C-9E8861641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10DDA-4CF1-747B-B349-D32CC6133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13</a:t>
            </a:fld>
            <a:endParaRPr lang="en-US" dirty="0"/>
          </a:p>
        </p:txBody>
      </p:sp>
      <p:pic>
        <p:nvPicPr>
          <p:cNvPr id="8" name="Picture 7" descr="A group of mathematical equations&#10;&#10;AI-generated content may be incorrect.">
            <a:extLst>
              <a:ext uri="{FF2B5EF4-FFF2-40B4-BE49-F238E27FC236}">
                <a16:creationId xmlns:a16="http://schemas.microsoft.com/office/drawing/2014/main" id="{17E4AD32-8AD0-AA27-6C87-E488FA325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42691"/>
            <a:ext cx="6677957" cy="17147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0B3FA2-AADA-C617-9E0D-B6159EF4B0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93" y="3406852"/>
            <a:ext cx="5451589" cy="12874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702DA90-6CFE-6D4D-C2A7-FD2DC5408524}"/>
              </a:ext>
            </a:extLst>
          </p:cNvPr>
          <p:cNvSpPr txBox="1"/>
          <p:nvPr/>
        </p:nvSpPr>
        <p:spPr>
          <a:xfrm>
            <a:off x="10685585" y="1027906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B712C32-BAD0-8048-DF6C-6CDA0C981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677" y="1393269"/>
            <a:ext cx="4414603" cy="441460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3203EFF-7B36-DF81-08A2-6B9A285DB14B}"/>
              </a:ext>
            </a:extLst>
          </p:cNvPr>
          <p:cNvSpPr/>
          <p:nvPr/>
        </p:nvSpPr>
        <p:spPr>
          <a:xfrm>
            <a:off x="7516157" y="3546998"/>
            <a:ext cx="878335" cy="738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42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EB96-E109-AD86-822F-B7E5779C2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09F3-558C-9789-0F75-FF40B2EB0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pic>
        <p:nvPicPr>
          <p:cNvPr id="6" name="Content Placeholder 5" descr="A math equation with black letters&#10;&#10;AI-generated content may be incorrect.">
            <a:extLst>
              <a:ext uri="{FF2B5EF4-FFF2-40B4-BE49-F238E27FC236}">
                <a16:creationId xmlns:a16="http://schemas.microsoft.com/office/drawing/2014/main" id="{06C46902-B396-85FC-C7BD-32AF136EBE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5" r="46454"/>
          <a:stretch>
            <a:fillRect/>
          </a:stretch>
        </p:blipFill>
        <p:spPr>
          <a:xfrm>
            <a:off x="7665066" y="2621090"/>
            <a:ext cx="3297837" cy="9240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B6109-33C8-5C8A-C48D-04822E19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9C0B3-DEF9-B013-62DE-47B5EF2BFC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12" y="1556940"/>
            <a:ext cx="5451589" cy="12874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57B324-EE87-CA3F-6B85-6050EF69E4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112" y="3629249"/>
            <a:ext cx="6992203" cy="15006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810234-D426-C18F-5419-15746F8D3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36985"/>
            <a:ext cx="6610981" cy="12874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8897DA-9A47-63FB-8E59-C665AB903E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486" y="4916649"/>
            <a:ext cx="5075947" cy="1394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71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AE48C-ECC4-961F-F3F5-9767578CD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0F89B-F96D-F8AE-EA50-C20A83E18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</a:t>
            </a:r>
          </a:p>
        </p:txBody>
      </p:sp>
      <p:pic>
        <p:nvPicPr>
          <p:cNvPr id="6" name="Content Placeholder 5" descr="A math equation with black letters&#10;&#10;AI-generated content may be incorrect.">
            <a:extLst>
              <a:ext uri="{FF2B5EF4-FFF2-40B4-BE49-F238E27FC236}">
                <a16:creationId xmlns:a16="http://schemas.microsoft.com/office/drawing/2014/main" id="{4FE3137E-274F-230E-D3F8-4F1C67245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223" y="3033157"/>
            <a:ext cx="6496957" cy="9240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287EB-6B39-E85E-D7F2-C8D47671B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 descr="A group of mathematical equations&#10;&#10;AI-generated content may be incorrect.">
            <a:extLst>
              <a:ext uri="{FF2B5EF4-FFF2-40B4-BE49-F238E27FC236}">
                <a16:creationId xmlns:a16="http://schemas.microsoft.com/office/drawing/2014/main" id="{152F44B8-CC65-FC95-3BEA-6610F665D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984"/>
          <a:stretch>
            <a:fillRect/>
          </a:stretch>
        </p:blipFill>
        <p:spPr>
          <a:xfrm>
            <a:off x="2757021" y="2019308"/>
            <a:ext cx="6677957" cy="857640"/>
          </a:xfrm>
          <a:prstGeom prst="rect">
            <a:avLst/>
          </a:prstGeom>
        </p:spPr>
      </p:pic>
      <p:pic>
        <p:nvPicPr>
          <p:cNvPr id="8" name="Picture 7" descr="A mathematical equation with a symbol&#10;&#10;AI-generated content may be incorrect.">
            <a:extLst>
              <a:ext uri="{FF2B5EF4-FFF2-40B4-BE49-F238E27FC236}">
                <a16:creationId xmlns:a16="http://schemas.microsoft.com/office/drawing/2014/main" id="{8DC4015D-9FEE-8537-0C37-9164AABEFA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963"/>
          <a:stretch>
            <a:fillRect/>
          </a:stretch>
        </p:blipFill>
        <p:spPr>
          <a:xfrm>
            <a:off x="3026765" y="1938001"/>
            <a:ext cx="585865" cy="8478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0CEA9B-B8D0-5B1B-05CC-8E120F9CB3B9}"/>
              </a:ext>
            </a:extLst>
          </p:cNvPr>
          <p:cNvSpPr txBox="1"/>
          <p:nvPr/>
        </p:nvSpPr>
        <p:spPr>
          <a:xfrm>
            <a:off x="4167266" y="5246557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Entirely Coulombic! No quantum</a:t>
            </a:r>
          </a:p>
        </p:txBody>
      </p:sp>
    </p:spTree>
    <p:extLst>
      <p:ext uri="{BB962C8B-B14F-4D97-AF65-F5344CB8AC3E}">
        <p14:creationId xmlns:p14="http://schemas.microsoft.com/office/powerpoint/2010/main" val="275553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BD08-C24F-1D4A-DB97-6565A69D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</a:t>
            </a:r>
            <a:r>
              <a:rPr lang="en-US" baseline="-25000" dirty="0"/>
              <a:t>2</a:t>
            </a:r>
            <a:r>
              <a:rPr lang="en-US" baseline="30000" dirty="0"/>
              <a:t>+</a:t>
            </a:r>
            <a:r>
              <a:rPr lang="en-US" dirty="0"/>
              <a:t> molecule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AD5B3-8106-C252-0749-7D68BED8D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7F6F7F-A193-702E-CCAD-0AD07CC15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693" y="2736549"/>
            <a:ext cx="3176326" cy="1616693"/>
          </a:xfrm>
          <a:prstGeom prst="rect">
            <a:avLst/>
          </a:prstGeom>
        </p:spPr>
      </p:pic>
      <p:pic>
        <p:nvPicPr>
          <p:cNvPr id="7" name="Content Placeholder 5" descr="A math equation with black letters&#10;&#10;AI-generated content may be incorrect.">
            <a:extLst>
              <a:ext uri="{FF2B5EF4-FFF2-40B4-BE49-F238E27FC236}">
                <a16:creationId xmlns:a16="http://schemas.microsoft.com/office/drawing/2014/main" id="{63493A3B-CCAD-8F26-BA7E-7C753AE2D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6537" y="3668402"/>
            <a:ext cx="6496957" cy="924054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B88DF6-B2C8-275C-A68F-A1546F8FAC93}"/>
                  </a:ext>
                </a:extLst>
              </p:cNvPr>
              <p:cNvSpPr txBox="1"/>
              <p:nvPr/>
            </p:nvSpPr>
            <p:spPr>
              <a:xfrm>
                <a:off x="5356537" y="2413135"/>
                <a:ext cx="6138472" cy="10273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𝑑𝐸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|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𝑑𝐻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d>
                        <m:dPr>
                          <m:begChr m:val="|"/>
                          <m:endChr m:val="⟩"/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B88DF6-B2C8-275C-A68F-A1546F8FA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537" y="2413135"/>
                <a:ext cx="6138472" cy="1027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mathematical equation with a symbol&#10;&#10;AI-generated content may be incorrect.">
            <a:extLst>
              <a:ext uri="{FF2B5EF4-FFF2-40B4-BE49-F238E27FC236}">
                <a16:creationId xmlns:a16="http://schemas.microsoft.com/office/drawing/2014/main" id="{85690991-06FA-9D22-6481-3CB9F95599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618" y="4820390"/>
            <a:ext cx="3896269" cy="8478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8257E8-97B3-11C2-0386-F2057F8C7761}"/>
              </a:ext>
            </a:extLst>
          </p:cNvPr>
          <p:cNvSpPr txBox="1"/>
          <p:nvPr/>
        </p:nvSpPr>
        <p:spPr>
          <a:xfrm>
            <a:off x="9934120" y="5013478"/>
            <a:ext cx="623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latin typeface="+mj-lt"/>
              </a:rPr>
              <a:t>= 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A266A-2823-B309-19C3-7458BF05DF36}"/>
              </a:ext>
            </a:extLst>
          </p:cNvPr>
          <p:cNvSpPr txBox="1"/>
          <p:nvPr/>
        </p:nvSpPr>
        <p:spPr>
          <a:xfrm>
            <a:off x="1314124" y="5106715"/>
            <a:ext cx="41759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/>
              <a:t>R</a:t>
            </a:r>
            <a:r>
              <a:rPr lang="en-US" sz="3200" baseline="-25000"/>
              <a:t>e</a:t>
            </a:r>
            <a:r>
              <a:rPr lang="en-US" sz="3200"/>
              <a:t> = 0.741 Angstroms</a:t>
            </a:r>
          </a:p>
        </p:txBody>
      </p:sp>
    </p:spTree>
    <p:extLst>
      <p:ext uri="{BB962C8B-B14F-4D97-AF65-F5344CB8AC3E}">
        <p14:creationId xmlns:p14="http://schemas.microsoft.com/office/powerpoint/2010/main" val="289720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1862F-BB20-C665-B67B-3085A05A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03DE-4AD0-19BC-0580-EF5A49E7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H2+ molecule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756D0C-CA5A-ED79-6CCF-312D4824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Picture 5" descr="A graph of a yellow circle&#10;&#10;AI-generated content may be incorrect.">
            <a:extLst>
              <a:ext uri="{FF2B5EF4-FFF2-40B4-BE49-F238E27FC236}">
                <a16:creationId xmlns:a16="http://schemas.microsoft.com/office/drawing/2014/main" id="{54CBFA16-9F09-C980-4081-4C437628F0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830" y="1555751"/>
            <a:ext cx="3144018" cy="3369571"/>
          </a:xfrm>
          <a:prstGeom prst="rect">
            <a:avLst/>
          </a:prstGeom>
        </p:spPr>
      </p:pic>
      <p:pic>
        <p:nvPicPr>
          <p:cNvPr id="3" name="Content Placeholder 5" descr="A graph of a bond length convergence&#10;&#10;AI-generated content may be incorrect.">
            <a:extLst>
              <a:ext uri="{FF2B5EF4-FFF2-40B4-BE49-F238E27FC236}">
                <a16:creationId xmlns:a16="http://schemas.microsoft.com/office/drawing/2014/main" id="{BF0FEC7B-F780-CBD3-0409-12667D626C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9685" y="1645916"/>
            <a:ext cx="5394971" cy="3566167"/>
          </a:xfrm>
        </p:spPr>
      </p:pic>
    </p:spTree>
    <p:extLst>
      <p:ext uri="{BB962C8B-B14F-4D97-AF65-F5344CB8AC3E}">
        <p14:creationId xmlns:p14="http://schemas.microsoft.com/office/powerpoint/2010/main" val="268297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4DF1-1C12-15FA-29E5-E259637A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Pulay Forces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601CB-781D-1FB2-3F90-6CD73339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18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8997CD4-104A-77C4-D925-DB071482FC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483" y="3832976"/>
            <a:ext cx="6144482" cy="23625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E0B0FED-09AA-C7E5-C307-0266B4360A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691" y="1441867"/>
            <a:ext cx="5315692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04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19AD-6BBA-E1AA-8570-C479896F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22C8-46F8-3B35-0536-0CAACCABA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H2+ molecule</a:t>
            </a:r>
          </a:p>
        </p:txBody>
      </p:sp>
      <p:pic>
        <p:nvPicPr>
          <p:cNvPr id="6" name="Content Placeholder 5" descr="A graph of a bond length convergence&#10;&#10;AI-generated content may be incorrect.">
            <a:extLst>
              <a:ext uri="{FF2B5EF4-FFF2-40B4-BE49-F238E27FC236}">
                <a16:creationId xmlns:a16="http://schemas.microsoft.com/office/drawing/2014/main" id="{148DDEC4-DA7B-EC87-3D44-BD13406BAA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96621"/>
            <a:ext cx="5394971" cy="356616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688F0-483C-A633-8FA5-87E4CCE6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19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62FBCA-18E5-3B4A-57CA-6A437A457BE3}"/>
              </a:ext>
            </a:extLst>
          </p:cNvPr>
          <p:cNvSpPr txBox="1"/>
          <p:nvPr/>
        </p:nvSpPr>
        <p:spPr>
          <a:xfrm>
            <a:off x="931543" y="1801267"/>
            <a:ext cx="5942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+mj-lt"/>
              </a:rPr>
              <a:t>3 </a:t>
            </a:r>
            <a:r>
              <a:rPr lang="en-US" sz="3200">
                <a:latin typeface="+mj-lt"/>
              </a:rPr>
              <a:t>Radial functions no Pulay Forces</a:t>
            </a:r>
            <a:endParaRPr lang="en-US" sz="3200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B02677-A933-C922-AF34-4D19820E6C07}"/>
              </a:ext>
            </a:extLst>
          </p:cNvPr>
          <p:cNvSpPr txBox="1"/>
          <p:nvPr/>
        </p:nvSpPr>
        <p:spPr>
          <a:xfrm>
            <a:off x="7458488" y="1308824"/>
            <a:ext cx="4438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5 </a:t>
            </a:r>
            <a:r>
              <a:rPr lang="en-US" sz="3200">
                <a:latin typeface="+mj-lt"/>
              </a:rPr>
              <a:t>Radial functions with Pulay Forces</a:t>
            </a:r>
            <a:endParaRPr lang="en-US" sz="3200" dirty="0">
              <a:latin typeface="+mj-lt"/>
            </a:endParaRPr>
          </a:p>
        </p:txBody>
      </p:sp>
      <p:pic>
        <p:nvPicPr>
          <p:cNvPr id="5" name="Picture 4" descr="A graph of a bond length convergence&#10;&#10;AI-generated content may be incorrect.">
            <a:extLst>
              <a:ext uri="{FF2B5EF4-FFF2-40B4-BE49-F238E27FC236}">
                <a16:creationId xmlns:a16="http://schemas.microsoft.com/office/drawing/2014/main" id="{DB870662-3918-5416-F7D1-B932FDF9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6499" y="2386042"/>
            <a:ext cx="5394971" cy="35661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0D12E0-FF60-1969-6D61-00CA4835E834}"/>
              </a:ext>
            </a:extLst>
          </p:cNvPr>
          <p:cNvSpPr txBox="1"/>
          <p:nvPr/>
        </p:nvSpPr>
        <p:spPr>
          <a:xfrm>
            <a:off x="6096000" y="5880979"/>
            <a:ext cx="44388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  <a:latin typeface="+mj-lt"/>
              </a:rPr>
              <a:t>0.741 Angstroms distance</a:t>
            </a:r>
            <a:endParaRPr lang="en-US" sz="32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05148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22D7C-75E7-63FB-DFA3-0975B855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4EC0-AF93-846B-C2DF-40F29EF4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99E3D-918B-A2EC-0B1E-2F0C11D72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20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494FDA-3AA7-95E0-24CB-2E1255A85665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0BBA250-CF85-C58B-C2DC-D684BCD94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5327" cy="3863975"/>
          </a:xfrm>
        </p:spPr>
        <p:txBody>
          <a:bodyPr>
            <a:normAutofit lnSpcReduction="10000"/>
          </a:bodyPr>
          <a:lstStyle/>
          <a:p>
            <a:r>
              <a:rPr lang="en-US"/>
              <a:t>Xe – Xe dimer</a:t>
            </a:r>
          </a:p>
          <a:p>
            <a:r>
              <a:rPr lang="en-US"/>
              <a:t>What causes the interaction between the two</a:t>
            </a:r>
          </a:p>
          <a:p>
            <a:r>
              <a:rPr lang="en-US"/>
              <a:t>From perturbation theory gives induced dipole-dipole interactions</a:t>
            </a:r>
          </a:p>
          <a:p>
            <a:r>
              <a:rPr lang="en-US"/>
              <a:t>1/</a:t>
            </a:r>
            <a:r>
              <a:rPr lang="en-US" b="1" i="1">
                <a:solidFill>
                  <a:srgbClr val="FF0000"/>
                </a:solidFill>
              </a:rPr>
              <a:t>r</a:t>
            </a:r>
            <a:r>
              <a:rPr lang="en-US" baseline="30000"/>
              <a:t>6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7895384-6BB6-B5D3-A88C-A546F26E4EF2}"/>
              </a:ext>
            </a:extLst>
          </p:cNvPr>
          <p:cNvGrpSpPr/>
          <p:nvPr/>
        </p:nvGrpSpPr>
        <p:grpSpPr>
          <a:xfrm>
            <a:off x="4913601" y="1607223"/>
            <a:ext cx="6728998" cy="2150389"/>
            <a:chOff x="4581092" y="2350172"/>
            <a:chExt cx="6728998" cy="215038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72EE0DD-60F8-94C6-C889-189F8ABD1D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092" y="2357436"/>
              <a:ext cx="2143125" cy="21431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AAC01010-BAA5-4698-3C22-53121C6D1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6965" y="2350172"/>
              <a:ext cx="2143125" cy="214312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465AD12-2D4F-06AB-312E-F64A2F94CC4D}"/>
                </a:ext>
              </a:extLst>
            </p:cNvPr>
            <p:cNvCxnSpPr/>
            <p:nvPr/>
          </p:nvCxnSpPr>
          <p:spPr>
            <a:xfrm>
              <a:off x="6751782" y="3428999"/>
              <a:ext cx="2373745" cy="0"/>
            </a:xfrm>
            <a:prstGeom prst="line">
              <a:avLst/>
            </a:prstGeom>
            <a:ln w="539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4" name="Content Placeholder 9">
            <a:extLst>
              <a:ext uri="{FF2B5EF4-FFF2-40B4-BE49-F238E27FC236}">
                <a16:creationId xmlns:a16="http://schemas.microsoft.com/office/drawing/2014/main" id="{7DEDF284-81C2-5C6A-5D50-A60CBB7BA3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094"/>
          <a:stretch>
            <a:fillRect/>
          </a:stretch>
        </p:blipFill>
        <p:spPr>
          <a:xfrm>
            <a:off x="6588347" y="3681413"/>
            <a:ext cx="3608600" cy="1927190"/>
          </a:xfrm>
          <a:prstGeom prst="rect">
            <a:avLst/>
          </a:prstGeom>
        </p:spPr>
      </p:pic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76FB938F-7513-35D6-EFB2-5FBE31076C36}"/>
              </a:ext>
            </a:extLst>
          </p:cNvPr>
          <p:cNvSpPr txBox="1">
            <a:spLocks/>
          </p:cNvSpPr>
          <p:nvPr/>
        </p:nvSpPr>
        <p:spPr>
          <a:xfrm>
            <a:off x="8160345" y="1851385"/>
            <a:ext cx="743509" cy="674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i="1">
                <a:solidFill>
                  <a:srgbClr val="FF0000"/>
                </a:solidFill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83393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08ACA-093A-7EDD-E919-59CB5E98C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20D3-A537-863C-BDF0-4B307267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 Interactions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64ADD-E6ED-0D12-A421-92E91521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D8F77D-2B63-87BE-9887-FBD2880BB3C0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6033D7D-04D0-9B48-88AF-687D86630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15327" cy="3863975"/>
          </a:xfrm>
        </p:spPr>
        <p:txBody>
          <a:bodyPr>
            <a:normAutofit/>
          </a:bodyPr>
          <a:lstStyle/>
          <a:p>
            <a:r>
              <a:rPr lang="en-US"/>
              <a:t>Hellman-Feynman theorem says it is the induced polarizabilities of the molecules</a:t>
            </a:r>
          </a:p>
          <a:p>
            <a:r>
              <a:rPr lang="en-US"/>
              <a:t>1/</a:t>
            </a:r>
            <a:r>
              <a:rPr lang="en-US" b="1" i="1">
                <a:solidFill>
                  <a:srgbClr val="FF0000"/>
                </a:solidFill>
              </a:rPr>
              <a:t>r</a:t>
            </a:r>
            <a:r>
              <a:rPr lang="en-US" baseline="30000"/>
              <a:t>6</a:t>
            </a:r>
          </a:p>
          <a:p>
            <a:endParaRPr lang="en-US" baseline="300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11D147-62CA-6770-40A8-6291D43DD9C5}"/>
              </a:ext>
            </a:extLst>
          </p:cNvPr>
          <p:cNvGrpSpPr/>
          <p:nvPr/>
        </p:nvGrpSpPr>
        <p:grpSpPr>
          <a:xfrm>
            <a:off x="4913601" y="1607223"/>
            <a:ext cx="6728998" cy="2150389"/>
            <a:chOff x="4581092" y="2350172"/>
            <a:chExt cx="6728998" cy="215038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3C75408-B04C-5C9C-C2FC-DE05B3B5F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092" y="2357436"/>
              <a:ext cx="2143125" cy="21431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116AA92-C420-8AFD-F036-B7240C16F2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66965" y="2350172"/>
              <a:ext cx="2143125" cy="214312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D73FADF-BB87-91BA-0B9D-1E23AF2E0F2B}"/>
                </a:ext>
              </a:extLst>
            </p:cNvPr>
            <p:cNvCxnSpPr/>
            <p:nvPr/>
          </p:nvCxnSpPr>
          <p:spPr>
            <a:xfrm>
              <a:off x="6751782" y="3428999"/>
              <a:ext cx="2373745" cy="0"/>
            </a:xfrm>
            <a:prstGeom prst="line">
              <a:avLst/>
            </a:prstGeom>
            <a:ln w="53975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A2EE3DE4-050F-6DD3-AE08-B31FC218AD1A}"/>
              </a:ext>
            </a:extLst>
          </p:cNvPr>
          <p:cNvSpPr txBox="1">
            <a:spLocks/>
          </p:cNvSpPr>
          <p:nvPr/>
        </p:nvSpPr>
        <p:spPr>
          <a:xfrm>
            <a:off x="8160345" y="1851385"/>
            <a:ext cx="743509" cy="674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i="1">
                <a:solidFill>
                  <a:srgbClr val="FF0000"/>
                </a:solidFill>
              </a:rPr>
              <a:t>r</a:t>
            </a:r>
          </a:p>
        </p:txBody>
      </p:sp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B6F572EB-30D6-83C7-69E3-1BED7DC474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18"/>
          <a:stretch>
            <a:fillRect/>
          </a:stretch>
        </p:blipFill>
        <p:spPr>
          <a:xfrm>
            <a:off x="6128856" y="3681413"/>
            <a:ext cx="4298489" cy="192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33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5F53-164B-E3F3-641A-159833B5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5A4B-6012-911E-80F7-BDE19FBA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Dispersion Interactions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7E152EF-55DE-9D26-C76F-ECEFA7BCF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9419" y="2177066"/>
            <a:ext cx="7860907" cy="192719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EEEB8-B2EB-6B77-7B1B-8CB52AD5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22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4653E7-3A79-B621-F64D-1AD7BBB5E034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191A6-869C-6B50-FF0A-349D2C618D65}"/>
              </a:ext>
            </a:extLst>
          </p:cNvPr>
          <p:cNvSpPr txBox="1"/>
          <p:nvPr/>
        </p:nvSpPr>
        <p:spPr>
          <a:xfrm>
            <a:off x="1847992" y="1739113"/>
            <a:ext cx="3666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Induced dipole interactions?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CBE4A6-F6FF-7795-6967-912C13CF7BD0}"/>
              </a:ext>
            </a:extLst>
          </p:cNvPr>
          <p:cNvSpPr txBox="1"/>
          <p:nvPr/>
        </p:nvSpPr>
        <p:spPr>
          <a:xfrm>
            <a:off x="5808792" y="1716543"/>
            <a:ext cx="45352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latin typeface="+mj-lt"/>
              </a:rPr>
              <a:t>Polarizability induced interactions?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DE292C63-545E-900F-4AEE-0D59BC829D4C}"/>
              </a:ext>
            </a:extLst>
          </p:cNvPr>
          <p:cNvSpPr txBox="1">
            <a:spLocks/>
          </p:cNvSpPr>
          <p:nvPr/>
        </p:nvSpPr>
        <p:spPr>
          <a:xfrm>
            <a:off x="2459967" y="4370144"/>
            <a:ext cx="8194001" cy="2798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Hotly debated to this day</a:t>
            </a:r>
          </a:p>
          <a:p>
            <a:r>
              <a:rPr lang="en-US"/>
              <a:t>Taught (1)</a:t>
            </a:r>
          </a:p>
          <a:p>
            <a:r>
              <a:rPr lang="en-US"/>
              <a:t>(2) has been proven experimentally and theoretically</a:t>
            </a:r>
          </a:p>
          <a:p>
            <a:endParaRPr lang="en-US" baseline="30000"/>
          </a:p>
        </p:txBody>
      </p:sp>
    </p:spTree>
    <p:extLst>
      <p:ext uri="{BB962C8B-B14F-4D97-AF65-F5344CB8AC3E}">
        <p14:creationId xmlns:p14="http://schemas.microsoft.com/office/powerpoint/2010/main" val="4076976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910DE-EEEB-7CD2-A491-FC3E91BE3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6A91C-57FB-7DEB-0AC1-7F63FB7CB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A2F14-F864-6C14-C4E7-25045665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B49C2D-B978-5A4F-1D6D-75778CB37C1C}"/>
              </a:ext>
            </a:extLst>
          </p:cNvPr>
          <p:cNvSpPr/>
          <p:nvPr/>
        </p:nvSpPr>
        <p:spPr>
          <a:xfrm>
            <a:off x="5838825" y="2577857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B893B5-F41A-7078-27C0-1B0D038870B8}"/>
              </a:ext>
            </a:extLst>
          </p:cNvPr>
          <p:cNvSpPr/>
          <p:nvPr/>
        </p:nvSpPr>
        <p:spPr>
          <a:xfrm>
            <a:off x="8574530" y="2577857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C9EF9B-A7FE-E630-8D45-127C49FD6E1A}"/>
              </a:ext>
            </a:extLst>
          </p:cNvPr>
          <p:cNvSpPr/>
          <p:nvPr/>
        </p:nvSpPr>
        <p:spPr>
          <a:xfrm>
            <a:off x="5979514" y="4149482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BD2B38-E050-5FAF-24D3-B03F1B29AF85}"/>
              </a:ext>
            </a:extLst>
          </p:cNvPr>
          <p:cNvSpPr/>
          <p:nvPr/>
        </p:nvSpPr>
        <p:spPr>
          <a:xfrm>
            <a:off x="8715219" y="4149482"/>
            <a:ext cx="2214016" cy="4413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64D793-620F-BD5B-4265-A5F843E83B6B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5D2EE8-AEFF-8A78-438F-9558AB5C7C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479" y="4952666"/>
            <a:ext cx="7687748" cy="12098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1F821D-982E-455F-ACA8-AE5903F01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06" y="1272030"/>
            <a:ext cx="6763694" cy="3296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5DF001-4B73-09BD-8A98-AF2D30AA73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9" y="2237345"/>
            <a:ext cx="3554666" cy="213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2299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82CDE-9386-772F-08A4-77F4E5404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49F1-3DDA-53F0-7B31-5F850BB3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NMR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C4E83-DD39-F459-F61A-44C91C09B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24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EDBF1-B45C-5557-977D-D467F10BE15D}"/>
              </a:ext>
            </a:extLst>
          </p:cNvPr>
          <p:cNvSpPr txBox="1"/>
          <p:nvPr/>
        </p:nvSpPr>
        <p:spPr>
          <a:xfrm>
            <a:off x="-18196" y="6304185"/>
            <a:ext cx="61141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+mj-lt"/>
                <a:ea typeface="Calibri Light" panose="020F0302020204030204" pitchFamily="34" charset="0"/>
                <a:cs typeface="Calibri Light" panose="020F0302020204030204" pitchFamily="34" charset="0"/>
              </a:rPr>
              <a:t>White-Hydrogen</a:t>
            </a:r>
            <a:endParaRPr lang="en-US" sz="1400" dirty="0">
              <a:latin typeface="+mj-lt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8902C3-91AA-4376-CEBC-A216C59C49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59" y="2237345"/>
            <a:ext cx="3554666" cy="21327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66E1EF-6CF2-BE01-9074-4C6B89289E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546" y="1690688"/>
            <a:ext cx="6396254" cy="2515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96B007-1948-F449-2311-C8207CFD0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4479" y="4952666"/>
            <a:ext cx="7687748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52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7BA5D-AB14-2C1B-DC33-D60AD09C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of particles with EM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A26C5-1C73-49FD-CAE3-25333AF8F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271238-71EA-F718-82E6-672899A7D1A8}"/>
                  </a:ext>
                </a:extLst>
              </p:cNvPr>
              <p:cNvSpPr txBox="1"/>
              <p:nvPr/>
            </p:nvSpPr>
            <p:spPr>
              <a:xfrm>
                <a:off x="247337" y="1896624"/>
                <a:ext cx="4278031" cy="14931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200" dirty="0">
                  <a:latin typeface="+mj-lt"/>
                </a:endParaRPr>
              </a:p>
              <a:p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271238-71EA-F718-82E6-672899A7D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37" y="1896624"/>
                <a:ext cx="4278031" cy="14931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141D85-3E55-4684-2AE8-B130E808B171}"/>
                  </a:ext>
                </a:extLst>
              </p:cNvPr>
              <p:cNvSpPr txBox="1"/>
              <p:nvPr/>
            </p:nvSpPr>
            <p:spPr>
              <a:xfrm>
                <a:off x="2883206" y="3584569"/>
                <a:ext cx="6115986" cy="595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𝑞𝐴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i="1" dirty="0">
                    <a:latin typeface="+mj-lt"/>
                  </a:rPr>
                  <a:t> + q</a:t>
                </a:r>
                <a:r>
                  <a:rPr lang="el-GR" sz="3200" i="1" dirty="0">
                    <a:latin typeface="+mj-lt"/>
                  </a:rPr>
                  <a:t>φ</a:t>
                </a:r>
                <a:r>
                  <a:rPr lang="en-US" sz="3200" i="1" dirty="0">
                    <a:latin typeface="+mj-lt"/>
                  </a:rPr>
                  <a:t>(</a:t>
                </a:r>
                <a:r>
                  <a:rPr lang="en-US" sz="3200" i="1" dirty="0" err="1">
                    <a:latin typeface="+mj-lt"/>
                  </a:rPr>
                  <a:t>r,t</a:t>
                </a:r>
                <a:r>
                  <a:rPr lang="en-US" sz="3200" i="1" dirty="0">
                    <a:latin typeface="+mj-lt"/>
                  </a:rPr>
                  <a:t>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141D85-3E55-4684-2AE8-B130E808B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206" y="3584569"/>
                <a:ext cx="6115986" cy="595932"/>
              </a:xfrm>
              <a:prstGeom prst="rect">
                <a:avLst/>
              </a:prstGeom>
              <a:blipFill>
                <a:blip r:embed="rId3"/>
                <a:stretch>
                  <a:fillRect t="-12245" b="-3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65A2B8-29CA-6141-5FDB-17ECC0F4E8B1}"/>
              </a:ext>
            </a:extLst>
          </p:cNvPr>
          <p:cNvSpPr txBox="1"/>
          <p:nvPr/>
        </p:nvSpPr>
        <p:spPr>
          <a:xfrm>
            <a:off x="423955" y="3595726"/>
            <a:ext cx="19623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Canonical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4C9C53-E6D4-3F1A-F218-05B20ADB5733}"/>
              </a:ext>
            </a:extLst>
          </p:cNvPr>
          <p:cNvSpPr txBox="1"/>
          <p:nvPr/>
        </p:nvSpPr>
        <p:spPr>
          <a:xfrm>
            <a:off x="9308794" y="3584569"/>
            <a:ext cx="22140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+mj-lt"/>
              </a:rPr>
              <a:t>Mechanical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0B0807-27A5-C5E6-54E3-A19C62729ED2}"/>
                  </a:ext>
                </a:extLst>
              </p:cNvPr>
              <p:cNvSpPr txBox="1"/>
              <p:nvPr/>
            </p:nvSpPr>
            <p:spPr>
              <a:xfrm>
                <a:off x="2214015" y="4789593"/>
                <a:ext cx="6238118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𝑞𝐴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)+ 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q</m:t>
                      </m:r>
                      <m:r>
                        <m:rPr>
                          <m:nor/>
                        </m:rPr>
                        <a:rPr lang="el-GR" sz="3200" i="1" dirty="0">
                          <a:latin typeface="+mj-lt"/>
                        </a:rPr>
                        <m:t>φ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,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t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0B0807-27A5-C5E6-54E3-A19C62729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015" y="4789593"/>
                <a:ext cx="6238118" cy="9881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5C0140-D36C-B76E-4717-1B823D2D05FC}"/>
                  </a:ext>
                </a:extLst>
              </p:cNvPr>
              <p:cNvSpPr txBox="1"/>
              <p:nvPr/>
            </p:nvSpPr>
            <p:spPr>
              <a:xfrm>
                <a:off x="5941199" y="2023327"/>
                <a:ext cx="6115986" cy="6481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i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3200" i="0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sz="320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32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5C0140-D36C-B76E-4717-1B823D2D0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1199" y="2023327"/>
                <a:ext cx="6115986" cy="6481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E92DEA-2B81-F8A4-88F9-883F4F18E32C}"/>
              </a:ext>
            </a:extLst>
          </p:cNvPr>
          <p:cNvCxnSpPr/>
          <p:nvPr/>
        </p:nvCxnSpPr>
        <p:spPr>
          <a:xfrm>
            <a:off x="4781862" y="2347422"/>
            <a:ext cx="851015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9F6E85-57FB-EEB5-56C8-01D700052424}"/>
              </a:ext>
            </a:extLst>
          </p:cNvPr>
          <p:cNvCxnSpPr/>
          <p:nvPr/>
        </p:nvCxnSpPr>
        <p:spPr>
          <a:xfrm>
            <a:off x="5216577" y="2347422"/>
            <a:ext cx="0" cy="10423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87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97564-07B3-8972-7CDB-3C5C9ADD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2DDB2-B8B7-C943-4C3C-75767BB88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of particles with EM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E5401-B26A-E5D8-73B0-943647591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BE28C7-F3CD-4689-122D-2C618BC64F02}"/>
                  </a:ext>
                </a:extLst>
              </p:cNvPr>
              <p:cNvSpPr txBox="1"/>
              <p:nvPr/>
            </p:nvSpPr>
            <p:spPr>
              <a:xfrm>
                <a:off x="2753661" y="2016413"/>
                <a:ext cx="6238118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𝑞𝐴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32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)+ 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q</m:t>
                      </m:r>
                      <m:r>
                        <m:rPr>
                          <m:nor/>
                        </m:rPr>
                        <a:rPr lang="el-GR" sz="3200" i="1" dirty="0">
                          <a:latin typeface="+mj-lt"/>
                        </a:rPr>
                        <m:t>φ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,</m:t>
                      </m:r>
                      <m:r>
                        <m:rPr>
                          <m:nor/>
                        </m:rPr>
                        <a:rPr lang="en-US" sz="3200" i="1" dirty="0" err="1">
                          <a:latin typeface="+mj-lt"/>
                        </a:rPr>
                        <m:t>t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BE28C7-F3CD-4689-122D-2C618BC64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3661" y="2016413"/>
                <a:ext cx="6238118" cy="988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C1E301F-0D5A-BAD7-BFA7-BCEC2A49B2E3}"/>
              </a:ext>
            </a:extLst>
          </p:cNvPr>
          <p:cNvSpPr txBox="1"/>
          <p:nvPr/>
        </p:nvSpPr>
        <p:spPr>
          <a:xfrm>
            <a:off x="195554" y="3764342"/>
            <a:ext cx="113543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+mj-lt"/>
              </a:rPr>
              <a:t>In the case of the EM field is weak and does not originate from a point charge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ED1B3B-52CA-0944-A19A-DB6319E597EA}"/>
                  </a:ext>
                </a:extLst>
              </p:cNvPr>
              <p:cNvSpPr txBox="1"/>
              <p:nvPr/>
            </p:nvSpPr>
            <p:spPr>
              <a:xfrm>
                <a:off x="2190135" y="3052678"/>
                <a:ext cx="7365167" cy="595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𝑞𝐴</m:t>
                              </m:r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𝑝𝐴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𝐴𝑝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1ED1B3B-52CA-0944-A19A-DB6319E59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0135" y="3052678"/>
                <a:ext cx="7365167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8995C1-669E-A73F-C4F8-D2EAA7C42495}"/>
                  </a:ext>
                </a:extLst>
              </p:cNvPr>
              <p:cNvSpPr txBox="1"/>
              <p:nvPr/>
            </p:nvSpPr>
            <p:spPr>
              <a:xfrm>
                <a:off x="1948818" y="4287562"/>
                <a:ext cx="7365167" cy="10883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sz="3200" b="0" i="1" dirty="0">
                  <a:latin typeface="+mj-lt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q</m:t>
                      </m:r>
                      <m:r>
                        <m:rPr>
                          <m:nor/>
                        </m:rPr>
                        <a:rPr lang="el-GR" sz="3200" i="1" dirty="0">
                          <a:latin typeface="+mj-lt"/>
                        </a:rPr>
                        <m:t>φ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,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t</m:t>
                      </m:r>
                      <m:r>
                        <m:rPr>
                          <m:nor/>
                        </m:rPr>
                        <a:rPr lang="en-US" sz="3200" i="1" dirty="0">
                          <a:latin typeface="+mj-lt"/>
                        </a:rPr>
                        <m:t>) </m:t>
                      </m:r>
                      <m:r>
                        <a:rPr lang="en-US" sz="3200" b="0" i="1" dirty="0" smtClean="0"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A8995C1-669E-A73F-C4F8-D2EAA7C42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818" y="4287562"/>
                <a:ext cx="7365167" cy="10883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D77B57-6983-F20B-1FB7-22A7470D284F}"/>
                  </a:ext>
                </a:extLst>
              </p:cNvPr>
              <p:cNvSpPr txBox="1"/>
              <p:nvPr/>
            </p:nvSpPr>
            <p:spPr>
              <a:xfrm>
                <a:off x="3064095" y="5375937"/>
                <a:ext cx="5134611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𝑝𝐴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𝐴𝑝</m:t>
                              </m:r>
                            </m:e>
                          </m:d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6D77B57-6983-F20B-1FB7-22A7470D2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4095" y="5375937"/>
                <a:ext cx="5134611" cy="98815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6652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49EA0-C648-5A2E-D55C-FD018202E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4881-2F1E-3A53-6F3D-4BC16AA0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of particles with EM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9E99F6-AF1D-C4B6-6209-DCA84970D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4DC72C-DC86-B9F6-065F-7583F430048D}"/>
                  </a:ext>
                </a:extLst>
              </p:cNvPr>
              <p:cNvSpPr txBox="1"/>
              <p:nvPr/>
            </p:nvSpPr>
            <p:spPr>
              <a:xfrm>
                <a:off x="3124055" y="1823268"/>
                <a:ext cx="5134611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𝑝𝐴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𝐴𝑝</m:t>
                              </m:r>
                            </m:e>
                          </m:d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84DC72C-DC86-B9F6-065F-7583F43004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055" y="1823268"/>
                <a:ext cx="5134611" cy="988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CC035C-8CC0-3F32-FEAD-C183BAB483C2}"/>
                  </a:ext>
                </a:extLst>
              </p:cNvPr>
              <p:cNvSpPr txBox="1"/>
              <p:nvPr/>
            </p:nvSpPr>
            <p:spPr>
              <a:xfrm>
                <a:off x="3498808" y="3126644"/>
                <a:ext cx="3117520" cy="988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+ 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V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(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r</m:t>
                      </m:r>
                      <m:r>
                        <m:rPr>
                          <m:nor/>
                        </m:rPr>
                        <a:rPr lang="en-US" sz="3200" b="0" i="1" dirty="0" smtClean="0">
                          <a:latin typeface="+mj-lt"/>
                        </a:rPr>
                        <m:t>)</m:t>
                      </m:r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1CC035C-8CC0-3F32-FEAD-C183BAB48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808" y="3126644"/>
                <a:ext cx="3117520" cy="988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C3D0-4572-8329-7B75-6901584E3283}"/>
                  </a:ext>
                </a:extLst>
              </p:cNvPr>
              <p:cNvSpPr txBox="1"/>
              <p:nvPr/>
            </p:nvSpPr>
            <p:spPr>
              <a:xfrm>
                <a:off x="3218603" y="4430020"/>
                <a:ext cx="3677930" cy="9557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sz="3200" b="0" i="1" smtClean="0">
                          <a:latin typeface="Cambria Math" panose="02040503050406030204" pitchFamily="18" charset="0"/>
                        </a:rPr>
                        <m:t>I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  <m:d>
                            <m:d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𝑝𝐴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𝐴𝑝</m:t>
                              </m:r>
                            </m:e>
                          </m:d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BFC3D0-4572-8329-7B75-6901584E3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03" y="4430020"/>
                <a:ext cx="3677930" cy="9557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72393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24096-26DC-19C5-58B4-6105C9A6B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750DC-8CC6-A472-4975-46F48CD97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of particles with EM fields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8288C-7E30-96D9-29F1-FFE41ECA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F09A8A-C7F4-31BA-F6C7-20D7F62D8913}"/>
                  </a:ext>
                </a:extLst>
              </p:cNvPr>
              <p:cNvSpPr txBox="1"/>
              <p:nvPr/>
            </p:nvSpPr>
            <p:spPr>
              <a:xfrm>
                <a:off x="2415915" y="2208422"/>
                <a:ext cx="6115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Coulomb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gauge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F09A8A-C7F4-31BA-F6C7-20D7F62D8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915" y="2208422"/>
                <a:ext cx="6115986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6EFB81-2A46-48B7-E394-DA86AB6AAD18}"/>
                  </a:ext>
                </a:extLst>
              </p:cNvPr>
              <p:cNvSpPr txBox="1"/>
              <p:nvPr/>
            </p:nvSpPr>
            <p:spPr>
              <a:xfrm>
                <a:off x="2055224" y="2577754"/>
                <a:ext cx="7365167" cy="595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𝑝𝐴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𝐴𝑝</m:t>
                          </m:r>
                        </m:e>
                      </m:d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96EFB81-2A46-48B7-E394-DA86AB6AA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224" y="2577754"/>
                <a:ext cx="7365167" cy="5959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FD24D0-3455-729A-53F5-FB0D6E3A3FA8}"/>
                  </a:ext>
                </a:extLst>
              </p:cNvPr>
              <p:cNvSpPr txBox="1"/>
              <p:nvPr/>
            </p:nvSpPr>
            <p:spPr>
              <a:xfrm>
                <a:off x="4461496" y="3464820"/>
                <a:ext cx="2552622" cy="9351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𝑞𝑝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sz="3200" i="1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8FD24D0-3455-729A-53F5-FB0D6E3A3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496" y="3464820"/>
                <a:ext cx="2552622" cy="9351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205A3A-982E-0779-D94E-B49C0A8CC9DF}"/>
                  </a:ext>
                </a:extLst>
              </p:cNvPr>
              <p:cNvSpPr txBox="1"/>
              <p:nvPr/>
            </p:nvSpPr>
            <p:spPr>
              <a:xfrm>
                <a:off x="2415915" y="4671633"/>
                <a:ext cx="61159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Plane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800" b="0" i="1" smtClean="0">
                          <a:latin typeface="Cambria Math" panose="02040503050406030204" pitchFamily="18" charset="0"/>
                        </a:rPr>
                        <m:t>wave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4205A3A-982E-0779-D94E-B49C0A8CC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915" y="4671633"/>
                <a:ext cx="611598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2DB4853-957A-C9AB-3259-8384AF74C88F}"/>
              </a:ext>
            </a:extLst>
          </p:cNvPr>
          <p:cNvSpPr txBox="1"/>
          <p:nvPr/>
        </p:nvSpPr>
        <p:spPr>
          <a:xfrm>
            <a:off x="4454366" y="5312586"/>
            <a:ext cx="22379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dirty="0"/>
              <a:t>A = </a:t>
            </a:r>
            <a:r>
              <a:rPr lang="en-US" dirty="0" err="1"/>
              <a:t>A_o</a:t>
            </a:r>
            <a:r>
              <a:rPr lang="en-US" dirty="0"/>
              <a:t>*ϵ*exp(</a:t>
            </a:r>
            <a:r>
              <a:rPr lang="en-US" dirty="0" err="1"/>
              <a:t>i</a:t>
            </a:r>
            <a:r>
              <a:rPr lang="en-US" dirty="0"/>
              <a:t>(</a:t>
            </a:r>
            <a:r>
              <a:rPr lang="en-US" dirty="0" err="1"/>
              <a:t>kr-wt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75193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7462-B1E6-D3FC-A706-B7C1422B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4D227-998D-E532-871B-90EA735CD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Derived separately by both Hellman and Feynman in 1939</a:t>
            </a:r>
          </a:p>
          <a:p>
            <a:r>
              <a:rPr lang="en-US"/>
              <a:t>Coulson and Bell said it was invalid in 1945</a:t>
            </a:r>
          </a:p>
          <a:p>
            <a:r>
              <a:rPr lang="en-US"/>
              <a:t>Berline saved it 1951</a:t>
            </a:r>
          </a:p>
          <a:p>
            <a:pPr lvl="1"/>
            <a:r>
              <a:rPr lang="en-US"/>
              <a:t>How it could be used for chemical binding</a:t>
            </a:r>
          </a:p>
          <a:p>
            <a:r>
              <a:rPr lang="en-US"/>
              <a:t>Wilson in 1962 used it to get exact molecular energies</a:t>
            </a:r>
          </a:p>
          <a:p>
            <a:r>
              <a:rPr lang="en-US"/>
              <a:t>Musher ins 1966 said it is so trivial it is not a theorem</a:t>
            </a:r>
          </a:p>
          <a:p>
            <a:r>
              <a:rPr lang="en-US"/>
              <a:t>1972 Slater said it was the most powerful tool for molecular and condensed phase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29FD1-45DA-6EC4-79F6-95E53B27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3190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DEF46-8585-B59B-B887-C051BB8B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99605-C1AF-4D59-4304-5FF9A1584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0A3AE-6E05-ECC1-7945-ED86B41F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C76D9-31E3-448D-A7C2-9B210348CB4C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33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19394</TotalTime>
  <Words>611</Words>
  <Application>Microsoft Office PowerPoint</Application>
  <PresentationFormat>Widescreen</PresentationFormat>
  <Paragraphs>167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Arial</vt:lpstr>
      <vt:lpstr>Cambria Math</vt:lpstr>
      <vt:lpstr>Times New Roman</vt:lpstr>
      <vt:lpstr>Office Theme</vt:lpstr>
      <vt:lpstr>The Hellman-Feynman Theorem: An underutilized tool</vt:lpstr>
      <vt:lpstr>Derivation</vt:lpstr>
      <vt:lpstr>History</vt:lpstr>
      <vt:lpstr>Coulson and Bell invalidity</vt:lpstr>
      <vt:lpstr>Coulson and Bell invalidity</vt:lpstr>
      <vt:lpstr>Applications</vt:lpstr>
      <vt:lpstr>Caveats</vt:lpstr>
      <vt:lpstr>Simple expectation value determination:HO</vt:lpstr>
      <vt:lpstr>Simple expectation value determination</vt:lpstr>
      <vt:lpstr>Simple expectation value determination</vt:lpstr>
      <vt:lpstr>Molecular geometries</vt:lpstr>
      <vt:lpstr>Derivation</vt:lpstr>
      <vt:lpstr>Derivation</vt:lpstr>
      <vt:lpstr>Derivation</vt:lpstr>
      <vt:lpstr>Derivation</vt:lpstr>
      <vt:lpstr>H2+ molecule</vt:lpstr>
      <vt:lpstr>H2+ molecule</vt:lpstr>
      <vt:lpstr>Pulay Forces</vt:lpstr>
      <vt:lpstr>H2+ molecule</vt:lpstr>
      <vt:lpstr>Dispersion Interactions</vt:lpstr>
      <vt:lpstr>Dispersion Interactions</vt:lpstr>
      <vt:lpstr>Dispersion Interactions</vt:lpstr>
      <vt:lpstr>NMR</vt:lpstr>
      <vt:lpstr>NMR</vt:lpstr>
      <vt:lpstr>Interaction of particles with EM fields</vt:lpstr>
      <vt:lpstr>Interaction of particles with EM fields</vt:lpstr>
      <vt:lpstr>Interaction of particles with EM fields</vt:lpstr>
      <vt:lpstr>Interaction of particles with EM fields</vt:lpstr>
      <vt:lpstr>History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D McLane</dc:creator>
  <cp:lastModifiedBy>Nathan D McLane</cp:lastModifiedBy>
  <cp:revision>518</cp:revision>
  <dcterms:created xsi:type="dcterms:W3CDTF">2024-06-09T14:36:15Z</dcterms:created>
  <dcterms:modified xsi:type="dcterms:W3CDTF">2026-04-21T13:58:48Z</dcterms:modified>
</cp:coreProperties>
</file>