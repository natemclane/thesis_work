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44"/>
  </p:notesMasterIdLst>
  <p:handoutMasterIdLst>
    <p:handoutMasterId r:id="rId45"/>
  </p:handoutMasterIdLst>
  <p:sldIdLst>
    <p:sldId id="258" r:id="rId5"/>
    <p:sldId id="285" r:id="rId6"/>
    <p:sldId id="259" r:id="rId7"/>
    <p:sldId id="286" r:id="rId8"/>
    <p:sldId id="261" r:id="rId9"/>
    <p:sldId id="266" r:id="rId10"/>
    <p:sldId id="263" r:id="rId11"/>
    <p:sldId id="267" r:id="rId12"/>
    <p:sldId id="288" r:id="rId13"/>
    <p:sldId id="269" r:id="rId14"/>
    <p:sldId id="270" r:id="rId15"/>
    <p:sldId id="271" r:id="rId16"/>
    <p:sldId id="274" r:id="rId17"/>
    <p:sldId id="275" r:id="rId18"/>
    <p:sldId id="276" r:id="rId19"/>
    <p:sldId id="277" r:id="rId20"/>
    <p:sldId id="281" r:id="rId21"/>
    <p:sldId id="284" r:id="rId22"/>
    <p:sldId id="265" r:id="rId23"/>
    <p:sldId id="272" r:id="rId24"/>
    <p:sldId id="273" r:id="rId25"/>
    <p:sldId id="279" r:id="rId26"/>
    <p:sldId id="278" r:id="rId27"/>
    <p:sldId id="280" r:id="rId28"/>
    <p:sldId id="289" r:id="rId29"/>
    <p:sldId id="282" r:id="rId30"/>
    <p:sldId id="283" r:id="rId31"/>
    <p:sldId id="287" r:id="rId32"/>
    <p:sldId id="295" r:id="rId33"/>
    <p:sldId id="260" r:id="rId34"/>
    <p:sldId id="262" r:id="rId35"/>
    <p:sldId id="268" r:id="rId36"/>
    <p:sldId id="264" r:id="rId37"/>
    <p:sldId id="290" r:id="rId38"/>
    <p:sldId id="293" r:id="rId39"/>
    <p:sldId id="294" r:id="rId40"/>
    <p:sldId id="296" r:id="rId41"/>
    <p:sldId id="291" r:id="rId42"/>
    <p:sldId id="29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452F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30"/>
  </p:normalViewPr>
  <p:slideViewPr>
    <p:cSldViewPr showGuides="1">
      <p:cViewPr varScale="1">
        <p:scale>
          <a:sx n="64" d="100"/>
          <a:sy n="64" d="100"/>
        </p:scale>
        <p:origin x="9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M_A is the ratio of the nuclei mass to the mass of an electron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07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8232-DD9C-50A8-FC5A-6FCC7DE8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58E74-E052-ABDE-42D3-BF1CA12E8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0A193-C422-1B2A-D85E-28174C547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M_A is the ratio of the nuclei mass to the mass of an electron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D76F2-2E25-0D6C-AF0A-9B94DE4F9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88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99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Derive denominator. What happens if you take it all to one side?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86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Nontrivial solutions of the third equation only arise if Hij –Esij are singular. So it must vanish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15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 and K are always greater than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34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8/20/2026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8/20/2026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8.png"/><Relationship Id="rId4" Type="http://schemas.openxmlformats.org/officeDocument/2006/relationships/image" Target="../media/image29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jp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7.png"/><Relationship Id="rId7" Type="http://schemas.openxmlformats.org/officeDocument/2006/relationships/image" Target="../media/image5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50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48.png"/><Relationship Id="rId7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0.png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31.png"/><Relationship Id="rId9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65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58.png"/><Relationship Id="rId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741154" cy="4007406"/>
          </a:xfrm>
        </p:spPr>
        <p:txBody>
          <a:bodyPr>
            <a:noAutofit/>
          </a:bodyPr>
          <a:lstStyle/>
          <a:p>
            <a:r>
              <a:rPr lang="en-US"/>
              <a:t>Energy of Molecules through Quantum Mechanics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A sequence of terrible quality images and equations</a:t>
            </a:r>
            <a:endParaRPr lang="en-US" dirty="0"/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771BB1E4-3134-899F-CCA1-5C71BED1F0B4}"/>
              </a:ext>
            </a:extLst>
          </p:cNvPr>
          <p:cNvSpPr txBox="1">
            <a:spLocks/>
          </p:cNvSpPr>
          <p:nvPr/>
        </p:nvSpPr>
        <p:spPr>
          <a:xfrm>
            <a:off x="1411222" y="6019800"/>
            <a:ext cx="9144001" cy="745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0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 already know people are going to complain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21F2-4D3D-E9C3-310C-C171D485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CA7DA-BC27-E839-8A11-BB383C8FF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Energy is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Variationally changing the orbitals, we can obtain the ground state energy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Find the ground state electronic wavefunctions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All molecular properties are computed using the electronic wavefunctions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/>
              <a:t>Dipole moments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/>
              <a:t>Polarizatibilities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/>
              <a:t>Reactivity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/>
              <a:t>So on…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C6B93-C164-9CD8-38E2-1BA1208A5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5029200"/>
            <a:ext cx="3440886" cy="1381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A87D28-808E-5A76-456C-BCF186F60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181600"/>
            <a:ext cx="5943600" cy="131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8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3933-0679-1A17-BA6E-1BB0CD1B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72" y="841166"/>
            <a:ext cx="10963655" cy="762001"/>
          </a:xfrm>
        </p:spPr>
        <p:txBody>
          <a:bodyPr/>
          <a:lstStyle/>
          <a:p>
            <a:r>
              <a:rPr lang="en-US"/>
              <a:t>Molecular Schrödinger Equation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FC1DE8-D673-E1F0-E615-0F9F508F5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56" y="2540569"/>
            <a:ext cx="5992061" cy="1819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38D8E3-C2D2-EFD1-446C-A9DB1F6974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600200"/>
            <a:ext cx="2476846" cy="704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F64F59-CC2D-8419-CCFD-31B34DE5F7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58" y="4826569"/>
            <a:ext cx="5391902" cy="543001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75318D01-7D6F-194E-6CBE-FFBC5185644F}"/>
              </a:ext>
            </a:extLst>
          </p:cNvPr>
          <p:cNvGrpSpPr/>
          <p:nvPr/>
        </p:nvGrpSpPr>
        <p:grpSpPr>
          <a:xfrm>
            <a:off x="1124467" y="1752698"/>
            <a:ext cx="10085382" cy="2756931"/>
            <a:chOff x="1124467" y="1752698"/>
            <a:chExt cx="10085382" cy="275693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DE3EC74-C3C9-F968-51E8-1E753824E621}"/>
                </a:ext>
              </a:extLst>
            </p:cNvPr>
            <p:cNvSpPr/>
            <p:nvPr/>
          </p:nvSpPr>
          <p:spPr>
            <a:xfrm>
              <a:off x="1161412" y="2540569"/>
              <a:ext cx="1371600" cy="990600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9C8CC06-DDCD-5967-13E0-352E95BDC64B}"/>
                </a:ext>
              </a:extLst>
            </p:cNvPr>
            <p:cNvSpPr/>
            <p:nvPr/>
          </p:nvSpPr>
          <p:spPr>
            <a:xfrm>
              <a:off x="4458047" y="2540569"/>
              <a:ext cx="1907670" cy="1104900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924FD8C-8722-EAF9-5E21-812304CC8541}"/>
                </a:ext>
              </a:extLst>
            </p:cNvPr>
            <p:cNvSpPr/>
            <p:nvPr/>
          </p:nvSpPr>
          <p:spPr>
            <a:xfrm>
              <a:off x="1124467" y="3404729"/>
              <a:ext cx="1713345" cy="1104900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DD17B5-99FA-58E5-5BF4-800D5AFF6C6F}"/>
                </a:ext>
              </a:extLst>
            </p:cNvPr>
            <p:cNvSpPr/>
            <p:nvPr/>
          </p:nvSpPr>
          <p:spPr>
            <a:xfrm>
              <a:off x="6858000" y="1752698"/>
              <a:ext cx="1907670" cy="1104900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42AD73-2A8C-E3A5-3CF2-D54F2CEB156E}"/>
                </a:ext>
              </a:extLst>
            </p:cNvPr>
            <p:cNvSpPr txBox="1"/>
            <p:nvPr/>
          </p:nvSpPr>
          <p:spPr>
            <a:xfrm>
              <a:off x="9005399" y="2012760"/>
              <a:ext cx="22044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= Electronic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0730BC-2E37-CB32-5C28-BCD3FC40E334}"/>
              </a:ext>
            </a:extLst>
          </p:cNvPr>
          <p:cNvGrpSpPr/>
          <p:nvPr/>
        </p:nvGrpSpPr>
        <p:grpSpPr>
          <a:xfrm>
            <a:off x="2509026" y="2535339"/>
            <a:ext cx="8612681" cy="1974290"/>
            <a:chOff x="2509026" y="2535339"/>
            <a:chExt cx="8612681" cy="197429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52BB145-8BA4-F0A3-5875-4B1FB62F28C4}"/>
                </a:ext>
              </a:extLst>
            </p:cNvPr>
            <p:cNvSpPr/>
            <p:nvPr/>
          </p:nvSpPr>
          <p:spPr>
            <a:xfrm>
              <a:off x="2888419" y="3404729"/>
              <a:ext cx="2159193" cy="1104900"/>
            </a:xfrm>
            <a:prstGeom prst="ellipse">
              <a:avLst/>
            </a:prstGeom>
            <a:noFill/>
            <a:ln w="412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87CEC7-C3FE-A525-1915-E086E2772BE8}"/>
                </a:ext>
              </a:extLst>
            </p:cNvPr>
            <p:cNvSpPr/>
            <p:nvPr/>
          </p:nvSpPr>
          <p:spPr>
            <a:xfrm>
              <a:off x="2509026" y="2535339"/>
              <a:ext cx="2159193" cy="1104900"/>
            </a:xfrm>
            <a:prstGeom prst="ellipse">
              <a:avLst/>
            </a:prstGeom>
            <a:noFill/>
            <a:ln w="412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6C0EADE-F3D4-E8A4-D099-92A646298A8B}"/>
                </a:ext>
              </a:extLst>
            </p:cNvPr>
            <p:cNvSpPr/>
            <p:nvPr/>
          </p:nvSpPr>
          <p:spPr>
            <a:xfrm>
              <a:off x="6803589" y="3126002"/>
              <a:ext cx="2159193" cy="1104900"/>
            </a:xfrm>
            <a:prstGeom prst="ellipse">
              <a:avLst/>
            </a:prstGeom>
            <a:noFill/>
            <a:ln w="412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C25F536-1056-9386-CC10-B8EBFF9E2A12}"/>
                </a:ext>
              </a:extLst>
            </p:cNvPr>
            <p:cNvSpPr txBox="1"/>
            <p:nvPr/>
          </p:nvSpPr>
          <p:spPr>
            <a:xfrm>
              <a:off x="9303581" y="3372404"/>
              <a:ext cx="181812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= Nuclear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482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A47C-AEAA-D8B0-F8F0-4C321C32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452E1-0478-977E-8119-E024B306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Born-OppenHeimer Approximation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0991BB-2AE7-63DF-C05E-3B6AC0106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76400"/>
            <a:ext cx="2476846" cy="7049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FB9508-D960-080A-2552-C8881C556E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64" y="2649908"/>
            <a:ext cx="7566533" cy="76200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C1E63CA4-E632-AFA6-0AA3-3350D66CFC7E}"/>
              </a:ext>
            </a:extLst>
          </p:cNvPr>
          <p:cNvSpPr/>
          <p:nvPr/>
        </p:nvSpPr>
        <p:spPr>
          <a:xfrm>
            <a:off x="3773257" y="2535608"/>
            <a:ext cx="2758608" cy="990600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38E748-0C5E-DDE3-B094-0F33B14B5EFF}"/>
              </a:ext>
            </a:extLst>
          </p:cNvPr>
          <p:cNvGrpSpPr/>
          <p:nvPr/>
        </p:nvGrpSpPr>
        <p:grpSpPr>
          <a:xfrm>
            <a:off x="3666575" y="3646904"/>
            <a:ext cx="4706007" cy="1934221"/>
            <a:chOff x="152400" y="3728066"/>
            <a:chExt cx="4706007" cy="193422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D37FBA9-E0D2-8BAF-CC7B-34CC5DE8C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59" y="4804917"/>
              <a:ext cx="4286848" cy="85737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BE81339-33EF-6B3F-328D-50E679BCF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3728066"/>
              <a:ext cx="4706007" cy="885949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B20C73A-3482-673A-8EA6-292582182C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75"/>
          <a:stretch>
            <a:fillRect/>
          </a:stretch>
        </p:blipFill>
        <p:spPr>
          <a:xfrm>
            <a:off x="1371600" y="1371797"/>
            <a:ext cx="9295959" cy="548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1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EC209-A2AE-6A27-431E-0D1D8D23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6B5020-2994-E770-D63B-6E7B4063E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337" y="2438400"/>
            <a:ext cx="5344271" cy="28960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228299-3C5D-4B84-6C06-0DAC25305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468" y="914400"/>
            <a:ext cx="4706007" cy="88594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4A76E2-29A0-9082-0A9F-F3571CFF1F5E}"/>
              </a:ext>
            </a:extLst>
          </p:cNvPr>
          <p:cNvCxnSpPr>
            <a:cxnSpLocks/>
          </p:cNvCxnSpPr>
          <p:nvPr/>
        </p:nvCxnSpPr>
        <p:spPr>
          <a:xfrm>
            <a:off x="5181600" y="1800349"/>
            <a:ext cx="1543265" cy="0"/>
          </a:xfrm>
          <a:prstGeom prst="straightConnector1">
            <a:avLst/>
          </a:prstGeom>
          <a:ln w="73025"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9B040C9-29CF-FC00-109B-C843740C21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973" y="2207568"/>
            <a:ext cx="3113690" cy="30099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86E393-A971-EF41-A2E3-35733046FE17}"/>
              </a:ext>
            </a:extLst>
          </p:cNvPr>
          <p:cNvCxnSpPr>
            <a:cxnSpLocks/>
          </p:cNvCxnSpPr>
          <p:nvPr/>
        </p:nvCxnSpPr>
        <p:spPr>
          <a:xfrm flipV="1">
            <a:off x="7467600" y="2304877"/>
            <a:ext cx="730325" cy="292504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3D4837B-D66E-13CD-680E-D97233F38763}"/>
              </a:ext>
            </a:extLst>
          </p:cNvPr>
          <p:cNvSpPr txBox="1"/>
          <p:nvPr/>
        </p:nvSpPr>
        <p:spPr>
          <a:xfrm>
            <a:off x="8305800" y="2014809"/>
            <a:ext cx="2122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Spin coordinate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212356-CE3D-5073-B400-64DBB3B57B6B}"/>
              </a:ext>
            </a:extLst>
          </p:cNvPr>
          <p:cNvGrpSpPr/>
          <p:nvPr/>
        </p:nvGrpSpPr>
        <p:grpSpPr>
          <a:xfrm>
            <a:off x="1754720" y="5486400"/>
            <a:ext cx="8673777" cy="1010200"/>
            <a:chOff x="1754720" y="5486400"/>
            <a:chExt cx="8673777" cy="10102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032F7A-2A7D-30E1-EB35-10C3BF08A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2841" y="5486400"/>
              <a:ext cx="1543265" cy="571580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7E62410-F46B-A018-A15C-2DBBD3E628E9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6553200" y="5943600"/>
              <a:ext cx="1752600" cy="322168"/>
            </a:xfrm>
            <a:prstGeom prst="straightConnector1">
              <a:avLst/>
            </a:prstGeom>
            <a:ln w="7302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3DEB9A-3A2B-44E6-94C1-B5C86A1735BE}"/>
                </a:ext>
              </a:extLst>
            </p:cNvPr>
            <p:cNvSpPr txBox="1"/>
            <p:nvPr/>
          </p:nvSpPr>
          <p:spPr>
            <a:xfrm>
              <a:off x="8305800" y="6034935"/>
              <a:ext cx="21226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Spin coordinate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C962032-DA2B-7D61-AE55-66BCD0076414}"/>
                </a:ext>
              </a:extLst>
            </p:cNvPr>
            <p:cNvCxnSpPr>
              <a:cxnSpLocks/>
              <a:stCxn id="7" idx="2"/>
              <a:endCxn id="22" idx="3"/>
            </p:cNvCxnSpPr>
            <p:nvPr/>
          </p:nvCxnSpPr>
          <p:spPr>
            <a:xfrm flipH="1">
              <a:off x="4165958" y="6057980"/>
              <a:ext cx="1928516" cy="202283"/>
            </a:xfrm>
            <a:prstGeom prst="straightConnector1">
              <a:avLst/>
            </a:prstGeom>
            <a:ln w="7302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D97542-7830-5F0A-A879-5E9C713DC77B}"/>
                </a:ext>
              </a:extLst>
            </p:cNvPr>
            <p:cNvSpPr txBox="1"/>
            <p:nvPr/>
          </p:nvSpPr>
          <p:spPr>
            <a:xfrm>
              <a:off x="1754720" y="6029430"/>
              <a:ext cx="24112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coordinate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263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81481E-6 L -0.33646 0.00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23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343D-8331-99E8-28D5-D68AD324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1C21-9CEC-4389-EEB7-49DD537E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399758-798D-7FB6-3C78-ADF04B41E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490614"/>
            <a:ext cx="1543265" cy="571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0A2B11-5378-11E7-37BE-363853377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468" y="914400"/>
            <a:ext cx="4706007" cy="88594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D5A630-D527-E8C1-6E66-F2479C00AB2D}"/>
              </a:ext>
            </a:extLst>
          </p:cNvPr>
          <p:cNvCxnSpPr>
            <a:cxnSpLocks/>
          </p:cNvCxnSpPr>
          <p:nvPr/>
        </p:nvCxnSpPr>
        <p:spPr>
          <a:xfrm>
            <a:off x="5181600" y="1800349"/>
            <a:ext cx="1543265" cy="0"/>
          </a:xfrm>
          <a:prstGeom prst="straightConnector1">
            <a:avLst/>
          </a:prstGeom>
          <a:ln w="73025"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8792217-264B-E8D0-9C14-3D80478B8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7577"/>
            <a:ext cx="3113690" cy="3009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3D4F13-7A0D-80A1-EBFD-F74E206C110A}"/>
              </a:ext>
            </a:extLst>
          </p:cNvPr>
          <p:cNvSpPr txBox="1"/>
          <p:nvPr/>
        </p:nvSpPr>
        <p:spPr>
          <a:xfrm>
            <a:off x="8411184" y="2393787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Spin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773D70-17BE-3803-09D6-09950B7380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971" y="3042746"/>
            <a:ext cx="2610214" cy="1419423"/>
          </a:xfrm>
          <a:prstGeom prst="rect">
            <a:avLst/>
          </a:prstGeom>
        </p:spPr>
      </p:pic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95A2BFD3-3B70-1458-0D98-21D27ED36E6C}"/>
              </a:ext>
            </a:extLst>
          </p:cNvPr>
          <p:cNvSpPr/>
          <p:nvPr/>
        </p:nvSpPr>
        <p:spPr>
          <a:xfrm flipH="1">
            <a:off x="9035196" y="1230113"/>
            <a:ext cx="1704821" cy="318362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DF7840-E456-EA33-EC53-A4B7E15C10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479" y="4677976"/>
            <a:ext cx="3057952" cy="8002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4DB871-32E8-6336-74B2-DF0E5DCEE6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153" y="5690853"/>
            <a:ext cx="4286848" cy="76210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B42CEE-C3B1-0F28-329A-E2282C2A8D16}"/>
              </a:ext>
            </a:extLst>
          </p:cNvPr>
          <p:cNvCxnSpPr>
            <a:cxnSpLocks/>
          </p:cNvCxnSpPr>
          <p:nvPr/>
        </p:nvCxnSpPr>
        <p:spPr>
          <a:xfrm flipV="1">
            <a:off x="7143501" y="2705994"/>
            <a:ext cx="1334840" cy="568865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58D34F-C5B1-0E72-DC4E-3A99A380F0F7}"/>
              </a:ext>
            </a:extLst>
          </p:cNvPr>
          <p:cNvCxnSpPr>
            <a:cxnSpLocks/>
          </p:cNvCxnSpPr>
          <p:nvPr/>
        </p:nvCxnSpPr>
        <p:spPr>
          <a:xfrm flipH="1" flipV="1">
            <a:off x="4813997" y="2850918"/>
            <a:ext cx="1189760" cy="423941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067B43A-36F3-B1C7-8D7B-5BDC7AE7CC7B}"/>
              </a:ext>
            </a:extLst>
          </p:cNvPr>
          <p:cNvSpPr txBox="1"/>
          <p:nvPr/>
        </p:nvSpPr>
        <p:spPr>
          <a:xfrm>
            <a:off x="3879065" y="2470414"/>
            <a:ext cx="1037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Spatial</a:t>
            </a:r>
          </a:p>
        </p:txBody>
      </p:sp>
    </p:spTree>
    <p:extLst>
      <p:ext uri="{BB962C8B-B14F-4D97-AF65-F5344CB8AC3E}">
        <p14:creationId xmlns:p14="http://schemas.microsoft.com/office/powerpoint/2010/main" val="6791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48F4-0303-6D87-651A-7803EF7F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Slater Determinant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265313-0491-FC3B-421D-48B4A07BA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835782"/>
            <a:ext cx="5306165" cy="657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E7BFE9-4799-45BF-C769-F7DD4B57A3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695" y="1624437"/>
            <a:ext cx="3820058" cy="552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40CB4B-13E5-C31E-D6D6-C36E13FC1C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291" y="2215546"/>
            <a:ext cx="3419952" cy="5906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E89416-5D60-438B-01A4-B8F71AC97C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488" y="3591765"/>
            <a:ext cx="4477375" cy="99073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B2C8FD3-869E-8587-4342-0E2116733123}"/>
              </a:ext>
            </a:extLst>
          </p:cNvPr>
          <p:cNvGrpSpPr/>
          <p:nvPr/>
        </p:nvGrpSpPr>
        <p:grpSpPr>
          <a:xfrm>
            <a:off x="333444" y="4655303"/>
            <a:ext cx="11242859" cy="1800476"/>
            <a:chOff x="190473" y="4655303"/>
            <a:chExt cx="11242859" cy="180047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2DF0C17-1E93-0285-0F52-4EFDD8500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473" y="4655303"/>
              <a:ext cx="7173326" cy="180047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5343C03-17DE-A7B7-BD70-FA76D8A8D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7111" y="5636715"/>
              <a:ext cx="3456221" cy="504842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3306A-9701-A2FB-A14E-31499B9EE67A}"/>
              </a:ext>
            </a:extLst>
          </p:cNvPr>
          <p:cNvSpPr txBox="1">
            <a:spLocks/>
          </p:cNvSpPr>
          <p:nvPr/>
        </p:nvSpPr>
        <p:spPr>
          <a:xfrm>
            <a:off x="8401915" y="1212141"/>
            <a:ext cx="2892553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First guess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/>
              <a:t>Total molecular wavefunction is a product of molecular spin-orbitals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Antisymmetry principle not satisfied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Also will give the same energy for all possible spin cases</a:t>
            </a:r>
          </a:p>
          <a:p>
            <a:endParaRPr 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26A8C-1893-9540-B735-0C9CD18E2319}"/>
              </a:ext>
            </a:extLst>
          </p:cNvPr>
          <p:cNvSpPr txBox="1"/>
          <p:nvPr/>
        </p:nvSpPr>
        <p:spPr>
          <a:xfrm>
            <a:off x="1363842" y="1614176"/>
            <a:ext cx="27132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Hartree Product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28D56F-77C3-C6D0-536D-38B097F51A15}"/>
              </a:ext>
            </a:extLst>
          </p:cNvPr>
          <p:cNvCxnSpPr>
            <a:cxnSpLocks/>
          </p:cNvCxnSpPr>
          <p:nvPr/>
        </p:nvCxnSpPr>
        <p:spPr>
          <a:xfrm>
            <a:off x="3587875" y="1900700"/>
            <a:ext cx="685800" cy="0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Bent 17">
            <a:extLst>
              <a:ext uri="{FF2B5EF4-FFF2-40B4-BE49-F238E27FC236}">
                <a16:creationId xmlns:a16="http://schemas.microsoft.com/office/drawing/2014/main" id="{BF8183FD-8FC0-C354-AE0A-4395F6CE3E72}"/>
              </a:ext>
            </a:extLst>
          </p:cNvPr>
          <p:cNvSpPr/>
          <p:nvPr/>
        </p:nvSpPr>
        <p:spPr>
          <a:xfrm rot="10800000" flipH="1">
            <a:off x="640140" y="1624437"/>
            <a:ext cx="1379164" cy="1800476"/>
          </a:xfrm>
          <a:prstGeom prst="bentArrow">
            <a:avLst/>
          </a:prstGeom>
          <a:solidFill>
            <a:srgbClr val="A345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4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8A82D-105A-E92A-45E7-20A15605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Density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B8E143-2754-1B66-B21E-E4E15B06CE13}"/>
              </a:ext>
            </a:extLst>
          </p:cNvPr>
          <p:cNvGrpSpPr/>
          <p:nvPr/>
        </p:nvGrpSpPr>
        <p:grpSpPr>
          <a:xfrm>
            <a:off x="184726" y="1904530"/>
            <a:ext cx="6812573" cy="1676870"/>
            <a:chOff x="184726" y="1904530"/>
            <a:chExt cx="6812573" cy="167687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576FE9F-C300-B66A-6E92-96F41A7D9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386" b="83750"/>
            <a:stretch>
              <a:fillRect/>
            </a:stretch>
          </p:blipFill>
          <p:spPr>
            <a:xfrm>
              <a:off x="184726" y="1904530"/>
              <a:ext cx="6692499" cy="45720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36D56B4-FC9F-1D39-6A91-C785893B2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636" b="61591"/>
            <a:stretch>
              <a:fillRect/>
            </a:stretch>
          </p:blipFill>
          <p:spPr>
            <a:xfrm>
              <a:off x="184727" y="2362200"/>
              <a:ext cx="6692499" cy="76200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D19D714-62B4-1B4C-F354-A83B9A026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" t="82727" r="-1139" b="8410"/>
            <a:stretch>
              <a:fillRect/>
            </a:stretch>
          </p:blipFill>
          <p:spPr>
            <a:xfrm>
              <a:off x="304800" y="3124199"/>
              <a:ext cx="6692499" cy="457201"/>
            </a:xfrm>
            <a:prstGeom prst="rect">
              <a:avLst/>
            </a:prstGeom>
          </p:spPr>
        </p:pic>
      </p:grpSp>
      <p:pic>
        <p:nvPicPr>
          <p:cNvPr id="24" name="Content Placeholder 4">
            <a:extLst>
              <a:ext uri="{FF2B5EF4-FFF2-40B4-BE49-F238E27FC236}">
                <a16:creationId xmlns:a16="http://schemas.microsoft.com/office/drawing/2014/main" id="{4A313C4B-51AA-CB74-B731-3CE0BACDE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129" y="3692430"/>
            <a:ext cx="4358640" cy="53994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0F8BF1C-3681-3801-0EEA-E884DD88988A}"/>
              </a:ext>
            </a:extLst>
          </p:cNvPr>
          <p:cNvGrpSpPr/>
          <p:nvPr/>
        </p:nvGrpSpPr>
        <p:grpSpPr>
          <a:xfrm>
            <a:off x="1600200" y="4419598"/>
            <a:ext cx="8097380" cy="2194205"/>
            <a:chOff x="1600200" y="4419598"/>
            <a:chExt cx="8097380" cy="219420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08DB1DC-E296-E823-D5A7-AE5E64B2C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318" b="40909"/>
            <a:stretch>
              <a:fillRect/>
            </a:stretch>
          </p:blipFill>
          <p:spPr>
            <a:xfrm>
              <a:off x="1981200" y="4419598"/>
              <a:ext cx="6692499" cy="762003"/>
            </a:xfrm>
            <a:prstGeom prst="rect">
              <a:avLst/>
            </a:prstGeom>
          </p:spPr>
        </p:pic>
        <p:pic>
          <p:nvPicPr>
            <p:cNvPr id="25" name="Content Placeholder 4">
              <a:extLst>
                <a:ext uri="{FF2B5EF4-FFF2-40B4-BE49-F238E27FC236}">
                  <a16:creationId xmlns:a16="http://schemas.microsoft.com/office/drawing/2014/main" id="{13D101A5-CE2B-0DAF-A04D-814518E81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0200" y="5299170"/>
              <a:ext cx="8097380" cy="1314633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D68FD48-81C6-9015-26DA-FDE2808AA813}"/>
              </a:ext>
            </a:extLst>
          </p:cNvPr>
          <p:cNvSpPr txBox="1"/>
          <p:nvPr/>
        </p:nvSpPr>
        <p:spPr>
          <a:xfrm>
            <a:off x="10820400" y="304800"/>
            <a:ext cx="6399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8BCB57-10F3-1296-43A5-5823EDC31B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471" y="2369500"/>
            <a:ext cx="4286848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8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6B72-7956-F1A7-8490-664453B7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38448"/>
            <a:ext cx="10963655" cy="762001"/>
          </a:xfrm>
        </p:spPr>
        <p:txBody>
          <a:bodyPr/>
          <a:lstStyle/>
          <a:p>
            <a:r>
              <a:rPr lang="en-US"/>
              <a:t>Single particle MO representations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8AAC6-2A34-1952-BA75-76DE2F0A5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581400"/>
            <a:ext cx="2543530" cy="222916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6D03BE-5C4C-D79B-9E28-0210E7073790}"/>
              </a:ext>
            </a:extLst>
          </p:cNvPr>
          <p:cNvCxnSpPr>
            <a:cxnSpLocks/>
          </p:cNvCxnSpPr>
          <p:nvPr/>
        </p:nvCxnSpPr>
        <p:spPr>
          <a:xfrm>
            <a:off x="3048000" y="4695312"/>
            <a:ext cx="958925" cy="0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5FC9C7A1-1471-9573-D008-89346CE69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69315"/>
          <a:stretch>
            <a:fillRect/>
          </a:stretch>
        </p:blipFill>
        <p:spPr>
          <a:xfrm>
            <a:off x="4191000" y="4099326"/>
            <a:ext cx="3401277" cy="1219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07B33F1-F79F-7925-84F7-7F1F8B88EA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7260"/>
          <a:stretch>
            <a:fillRect/>
          </a:stretch>
        </p:blipFill>
        <p:spPr>
          <a:xfrm>
            <a:off x="8692752" y="4067089"/>
            <a:ext cx="3401277" cy="130085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607569-5835-2894-01AD-9F1D4A4C0E12}"/>
              </a:ext>
            </a:extLst>
          </p:cNvPr>
          <p:cNvCxnSpPr>
            <a:cxnSpLocks/>
          </p:cNvCxnSpPr>
          <p:nvPr/>
        </p:nvCxnSpPr>
        <p:spPr>
          <a:xfrm>
            <a:off x="7651675" y="4717517"/>
            <a:ext cx="958925" cy="0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EA9B270-2A58-A232-B4EC-685070D2A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810" y="1624833"/>
            <a:ext cx="10963656" cy="18763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Single particle molecular orbitals can be represented as a linear combination of some basis set with complex coefficients a</a:t>
            </a:r>
            <a:r>
              <a:rPr lang="en-US" sz="2000" baseline="-25000"/>
              <a:t>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For molecules, a common basis is the linear combination of Atomic orbitals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The molecular orbitals are orthogonal, the atomic orbitals don’t need to be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/>
              <a:t>Overlap integral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94F020C-A65E-1E60-CF84-3C4833BFB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46" t="62665" r="60378" b="20664"/>
          <a:stretch>
            <a:fillRect/>
          </a:stretch>
        </p:blipFill>
        <p:spPr>
          <a:xfrm>
            <a:off x="10376986" y="3414705"/>
            <a:ext cx="350810" cy="3333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22A5EF7-9DC0-933F-EF78-DE73ED199A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275" y="3581400"/>
            <a:ext cx="442973" cy="2953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BB73047-B18D-88C7-FB6E-847A413292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082" y="3581400"/>
            <a:ext cx="515238" cy="33338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530490D-9060-BD7D-C26B-5304E56597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5884458"/>
            <a:ext cx="2743200" cy="52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9C5E7-03B8-0EF4-9167-AD251D328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Variational Principle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9EF2F2-95E5-FE72-5724-9715C7F01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197" y="4724400"/>
            <a:ext cx="4724123" cy="1047896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6ED4FED-14FE-209F-45EB-55DF005B6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858826"/>
            <a:ext cx="8507012" cy="1362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307227-197C-0621-E7DE-6A0ACD0F9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828800"/>
            <a:ext cx="4286848" cy="857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36E3AF-DFFF-EC05-AC37-3399B4433D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4724400"/>
            <a:ext cx="2400635" cy="104789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F0695D0-895C-266A-E40B-3FB9FDA2744F}"/>
              </a:ext>
            </a:extLst>
          </p:cNvPr>
          <p:cNvSpPr/>
          <p:nvPr/>
        </p:nvSpPr>
        <p:spPr>
          <a:xfrm>
            <a:off x="2362200" y="4724400"/>
            <a:ext cx="2286000" cy="1104900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BCB4E2-7541-B22C-8E7E-A8E41E822827}"/>
              </a:ext>
            </a:extLst>
          </p:cNvPr>
          <p:cNvCxnSpPr>
            <a:cxnSpLocks/>
          </p:cNvCxnSpPr>
          <p:nvPr/>
        </p:nvCxnSpPr>
        <p:spPr>
          <a:xfrm>
            <a:off x="6477000" y="5227116"/>
            <a:ext cx="1111325" cy="0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23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F8DBE-EC9C-AE91-4A5E-ACEAD18E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Variational Principle and Secular equations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42F15A-0E6D-97F6-322C-ED14C2F28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685473"/>
            <a:ext cx="4679027" cy="1214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1A10BE-7CFE-7A48-CE92-1D989DAFBD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06" y="3895984"/>
            <a:ext cx="2543530" cy="22291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7DABCB-5AA8-C9FB-CBF7-8AB5AF689E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52068"/>
            <a:ext cx="5020376" cy="18481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67FFD5-8FC6-C3FF-B6A1-F0EFFAA266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543" y="3895984"/>
            <a:ext cx="3867690" cy="10097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805410-313F-7A24-F130-5FE0ACCFC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4953000"/>
            <a:ext cx="2924583" cy="9240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0C0D87-73E9-BB9E-C808-085C9EB379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836" y="3884647"/>
            <a:ext cx="2743200" cy="52556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F932740-4A27-6EE6-3284-1E4577BADD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5837927"/>
            <a:ext cx="3315163" cy="828791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A7518853-11F1-8989-EB6C-17F6CD15D95B}"/>
              </a:ext>
            </a:extLst>
          </p:cNvPr>
          <p:cNvSpPr/>
          <p:nvPr/>
        </p:nvSpPr>
        <p:spPr>
          <a:xfrm>
            <a:off x="1432392" y="2875514"/>
            <a:ext cx="2758608" cy="40108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Content Placeholder 6">
            <a:extLst>
              <a:ext uri="{FF2B5EF4-FFF2-40B4-BE49-F238E27FC236}">
                <a16:creationId xmlns:a16="http://schemas.microsoft.com/office/drawing/2014/main" id="{88EF0776-22E4-0E00-BC60-A884384494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9" y="1715398"/>
            <a:ext cx="2619741" cy="581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666B5D-2593-677D-BBAA-75650523C2EC}"/>
              </a:ext>
            </a:extLst>
          </p:cNvPr>
          <p:cNvSpPr txBox="1"/>
          <p:nvPr/>
        </p:nvSpPr>
        <p:spPr>
          <a:xfrm>
            <a:off x="10936384" y="304800"/>
            <a:ext cx="6399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FCFE535-4654-123F-F6C0-608C48BA1737}"/>
              </a:ext>
            </a:extLst>
          </p:cNvPr>
          <p:cNvSpPr/>
          <p:nvPr/>
        </p:nvSpPr>
        <p:spPr>
          <a:xfrm>
            <a:off x="1788239" y="3355244"/>
            <a:ext cx="2159193" cy="444931"/>
          </a:xfrm>
          <a:prstGeom prst="ellipse">
            <a:avLst/>
          </a:prstGeom>
          <a:noFill/>
          <a:ln w="412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3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BC97-3BBA-F6C7-281D-9715A946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Energy minimization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EE4A63-3B39-467A-7196-A6ADD5B1C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9" y="4328318"/>
            <a:ext cx="3400900" cy="1143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A69B14-AD75-C33A-3E89-A308BCA5C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71" b="33002"/>
          <a:stretch>
            <a:fillRect/>
          </a:stretch>
        </p:blipFill>
        <p:spPr>
          <a:xfrm>
            <a:off x="7315200" y="1655283"/>
            <a:ext cx="1752175" cy="874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324193-EAF4-F145-FDE2-302C2804FC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654" y="2905052"/>
            <a:ext cx="8535591" cy="1047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74BB94-0180-0EC1-C978-A1954942DB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5846848"/>
            <a:ext cx="3887285" cy="673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662F6A-371D-0794-7614-4126AC72A1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640201"/>
            <a:ext cx="3315163" cy="8287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EA572DD-3F2D-4B91-3C90-8B20C84CEF7E}"/>
              </a:ext>
            </a:extLst>
          </p:cNvPr>
          <p:cNvSpPr txBox="1"/>
          <p:nvPr/>
        </p:nvSpPr>
        <p:spPr>
          <a:xfrm>
            <a:off x="7035045" y="6027792"/>
            <a:ext cx="2743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Secular Equations</a:t>
            </a:r>
          </a:p>
        </p:txBody>
      </p:sp>
    </p:spTree>
    <p:extLst>
      <p:ext uri="{BB962C8B-B14F-4D97-AF65-F5344CB8AC3E}">
        <p14:creationId xmlns:p14="http://schemas.microsoft.com/office/powerpoint/2010/main" val="233079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D110-A456-73CD-BDF5-28E61667B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26677"/>
            <a:ext cx="10963655" cy="762001"/>
          </a:xfrm>
        </p:spPr>
        <p:txBody>
          <a:bodyPr/>
          <a:lstStyle/>
          <a:p>
            <a:r>
              <a:rPr lang="en-US"/>
              <a:t>Huckel Theory and conjugated molecules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F6955-24FE-5D70-F1D7-CA56621FB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4721355" cy="43434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Predicts the molecular orbitals for conjugated molecules like ethylene, benzene and so on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400"/>
              <a:t>4n +2 pi electrons rule for aromaticity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Linear combination of atomic p-orbitals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958C2-25AF-77C4-F1E1-5659E612C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341" y="4545482"/>
            <a:ext cx="3543795" cy="1019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1F53F0-E5FC-049E-BA9D-0BB98EA14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5" y="5578822"/>
            <a:ext cx="2181529" cy="905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D80D0D-7B40-4B63-9F13-23E95971F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628" y="2132833"/>
            <a:ext cx="1796664" cy="15957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64E39F-A759-1A0C-5535-616430813D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537" y="4086244"/>
            <a:ext cx="2181528" cy="26227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8F34E0-8783-F3FB-8F15-18AAE3FFFA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193" y="1709394"/>
            <a:ext cx="2294811" cy="60312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9DFE38A-C449-BECF-7F01-152054CA5AB1}"/>
              </a:ext>
            </a:extLst>
          </p:cNvPr>
          <p:cNvGrpSpPr/>
          <p:nvPr/>
        </p:nvGrpSpPr>
        <p:grpSpPr>
          <a:xfrm>
            <a:off x="9366537" y="2205825"/>
            <a:ext cx="1962069" cy="1657208"/>
            <a:chOff x="9366537" y="2205825"/>
            <a:chExt cx="1962069" cy="165720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D38C87-7E2A-CC1C-492E-01B5ECEC4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2590" r="41028" b="26460"/>
            <a:stretch>
              <a:fillRect/>
            </a:stretch>
          </p:blipFill>
          <p:spPr>
            <a:xfrm>
              <a:off x="9366537" y="2205825"/>
              <a:ext cx="1194006" cy="165720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7D7CE99-E094-FE1B-130C-CDEC388A5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2590" r="41028" b="26460"/>
            <a:stretch>
              <a:fillRect/>
            </a:stretch>
          </p:blipFill>
          <p:spPr>
            <a:xfrm>
              <a:off x="10134600" y="2205825"/>
              <a:ext cx="1194006" cy="1657208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1ED309A-F992-F255-F613-CEBB391F1342}"/>
              </a:ext>
            </a:extLst>
          </p:cNvPr>
          <p:cNvGrpSpPr/>
          <p:nvPr/>
        </p:nvGrpSpPr>
        <p:grpSpPr>
          <a:xfrm>
            <a:off x="9604268" y="4377083"/>
            <a:ext cx="1675847" cy="1795117"/>
            <a:chOff x="9604268" y="4377083"/>
            <a:chExt cx="1675847" cy="179511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6A611E5-77CE-513B-98F9-3700E1F16C76}"/>
                </a:ext>
              </a:extLst>
            </p:cNvPr>
            <p:cNvGrpSpPr/>
            <p:nvPr/>
          </p:nvGrpSpPr>
          <p:grpSpPr>
            <a:xfrm>
              <a:off x="9604268" y="4377083"/>
              <a:ext cx="1675847" cy="1795117"/>
              <a:chOff x="9604268" y="4377083"/>
              <a:chExt cx="1675847" cy="1795117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43BA8F7-3EC2-50BB-4BCA-8BAFDC2F8EF0}"/>
                  </a:ext>
                </a:extLst>
              </p:cNvPr>
              <p:cNvGrpSpPr/>
              <p:nvPr/>
            </p:nvGrpSpPr>
            <p:grpSpPr>
              <a:xfrm rot="20526153">
                <a:off x="9604268" y="4377083"/>
                <a:ext cx="1549000" cy="1386653"/>
                <a:chOff x="9503454" y="2205825"/>
                <a:chExt cx="1825152" cy="1744809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22E87120-6FF2-4E51-84CA-CA976EB5A4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32590" r="41028" b="26460"/>
                <a:stretch>
                  <a:fillRect/>
                </a:stretch>
              </p:blipFill>
              <p:spPr>
                <a:xfrm>
                  <a:off x="9503454" y="2293426"/>
                  <a:ext cx="1194006" cy="1657208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832F030F-1431-5FC0-5487-842011AB3C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32590" r="41028" b="26460"/>
                <a:stretch>
                  <a:fillRect/>
                </a:stretch>
              </p:blipFill>
              <p:spPr>
                <a:xfrm>
                  <a:off x="10134600" y="2205825"/>
                  <a:ext cx="1194006" cy="1657208"/>
                </a:xfrm>
                <a:prstGeom prst="rect">
                  <a:avLst/>
                </a:prstGeom>
              </p:spPr>
            </p:pic>
          </p:grp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8DD339C-10D4-9B45-2F63-8097902CF9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32590" r="41028" b="26460"/>
              <a:stretch>
                <a:fillRect/>
              </a:stretch>
            </p:blipFill>
            <p:spPr>
              <a:xfrm>
                <a:off x="10598744" y="5226498"/>
                <a:ext cx="681371" cy="945702"/>
              </a:xfrm>
              <a:prstGeom prst="rect">
                <a:avLst/>
              </a:prstGeom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E212DF4-7C1C-C676-F747-1E30A0E2AFC9}"/>
                </a:ext>
              </a:extLst>
            </p:cNvPr>
            <p:cNvGrpSpPr/>
            <p:nvPr/>
          </p:nvGrpSpPr>
          <p:grpSpPr>
            <a:xfrm>
              <a:off x="10547395" y="5226498"/>
              <a:ext cx="681134" cy="914400"/>
              <a:chOff x="5029200" y="3124200"/>
              <a:chExt cx="1065275" cy="121920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03C2569-0E20-D06E-21AA-981E7FCC5FEE}"/>
                  </a:ext>
                </a:extLst>
              </p:cNvPr>
              <p:cNvCxnSpPr/>
              <p:nvPr/>
            </p:nvCxnSpPr>
            <p:spPr>
              <a:xfrm flipH="1">
                <a:off x="5029200" y="3124200"/>
                <a:ext cx="1065275" cy="1219200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BF50CDE-5F17-A5C1-843A-A11B293D3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24960" y="3276600"/>
                <a:ext cx="969515" cy="957071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989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0.00208 L -0.23946 0.012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44" y="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9117-754F-3189-EF80-FACAC5933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AE3E-F347-C62C-7BAA-5858DDBC5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Huckel Theory For C</a:t>
            </a:r>
            <a:r>
              <a:rPr lang="en-US" baseline="-25000"/>
              <a:t>2</a:t>
            </a:r>
            <a:r>
              <a:rPr lang="en-US"/>
              <a:t>H</a:t>
            </a:r>
            <a:r>
              <a:rPr lang="en-US" baseline="-25000"/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AC8E2-159F-056B-81A0-86D4C6FF6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3082793"/>
            <a:ext cx="3543795" cy="1019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89176F-C72D-CEA1-3FBE-C0AB9CFC5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443" y="3107177"/>
            <a:ext cx="2181529" cy="905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00DC0F-01DC-9152-515F-532C30550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315480"/>
            <a:ext cx="2419688" cy="419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7223D1-B6F4-D825-8BD6-8035806126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287" y="2202119"/>
            <a:ext cx="1486107" cy="3905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2A9C40-14D5-3AA1-E626-9469F90647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607" y="2019316"/>
            <a:ext cx="2821193" cy="25057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7BE881-193D-291C-C4FC-08B48F6916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73" y="5029200"/>
            <a:ext cx="4878042" cy="10442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6C608A-5F44-DE70-3738-DD8D46149B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642" y="5029200"/>
            <a:ext cx="2413335" cy="905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154761-AAE0-A42D-C9CB-1753E7ED8B46}"/>
              </a:ext>
            </a:extLst>
          </p:cNvPr>
          <p:cNvSpPr txBox="1"/>
          <p:nvPr/>
        </p:nvSpPr>
        <p:spPr>
          <a:xfrm>
            <a:off x="10820400" y="304800"/>
            <a:ext cx="6399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466F52-EB55-888B-9A32-AF3777465B6C}"/>
              </a:ext>
            </a:extLst>
          </p:cNvPr>
          <p:cNvCxnSpPr>
            <a:cxnSpLocks/>
          </p:cNvCxnSpPr>
          <p:nvPr/>
        </p:nvCxnSpPr>
        <p:spPr>
          <a:xfrm flipH="1">
            <a:off x="5561075" y="5511486"/>
            <a:ext cx="1066800" cy="0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7359FE-F4B8-D827-E0AB-239800B48BC8}"/>
              </a:ext>
            </a:extLst>
          </p:cNvPr>
          <p:cNvCxnSpPr>
            <a:cxnSpLocks/>
          </p:cNvCxnSpPr>
          <p:nvPr/>
        </p:nvCxnSpPr>
        <p:spPr>
          <a:xfrm flipH="1">
            <a:off x="4038600" y="3847382"/>
            <a:ext cx="1093545" cy="1091886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21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32377-4EAA-8EC7-97AC-D6B2D68C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EB15F-A378-6884-D7F0-FF74F85C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Huckel Theory and conjugated molecules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19974A-888F-EF75-CB80-8DDCC4304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752600"/>
            <a:ext cx="1486107" cy="3905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9B1F5F-E5D1-2906-4AF7-E8C36ADE2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607" y="2019316"/>
            <a:ext cx="2821193" cy="25057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3D3FA5-37BF-F7A8-180A-823B3C4D6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85" y="2287015"/>
            <a:ext cx="4772844" cy="12528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59B835-C96E-A1E7-457C-F0FD3685AB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383" y="4876800"/>
            <a:ext cx="1424631" cy="8160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032DE8-02DE-48AA-DA64-BA74A59B92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180" y="3611777"/>
            <a:ext cx="3358444" cy="11931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BABEBD-B401-69CF-A1C8-12E32A5F9A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967"/>
          <a:stretch>
            <a:fillRect/>
          </a:stretch>
        </p:blipFill>
        <p:spPr>
          <a:xfrm>
            <a:off x="1066800" y="5966784"/>
            <a:ext cx="2333951" cy="6247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9241F4-C4EE-1ABC-D4CF-583B5E5114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67"/>
          <a:stretch>
            <a:fillRect/>
          </a:stretch>
        </p:blipFill>
        <p:spPr>
          <a:xfrm>
            <a:off x="3815451" y="5955303"/>
            <a:ext cx="2333951" cy="6247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DE19DE-2B64-60A4-BF3D-1B75AF846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4876800"/>
            <a:ext cx="3000794" cy="1619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D828FB-AC38-B525-E21E-AE3D4F4A948D}"/>
              </a:ext>
            </a:extLst>
          </p:cNvPr>
          <p:cNvSpPr txBox="1"/>
          <p:nvPr/>
        </p:nvSpPr>
        <p:spPr>
          <a:xfrm>
            <a:off x="10820400" y="304800"/>
            <a:ext cx="6399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6170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9ED9-280C-5A14-A170-6D20E4D8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D4FA-F900-C9F2-6613-7ED3C3A0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Huckel Theory and conjugated molecules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AA5A03-CB33-5144-6B22-5E2818549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752600"/>
            <a:ext cx="1486107" cy="3905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34C0A0-9A56-09C3-570A-17E5D8411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607" y="2019316"/>
            <a:ext cx="2821193" cy="25057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048B53-999D-06E0-3503-8E892AF0E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967"/>
          <a:stretch>
            <a:fillRect/>
          </a:stretch>
        </p:blipFill>
        <p:spPr>
          <a:xfrm>
            <a:off x="1325443" y="2467838"/>
            <a:ext cx="2333951" cy="6247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EFA98E8-2CB8-FD24-F0EA-07CC124C13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193697"/>
            <a:ext cx="3000794" cy="1619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E69A9B-7170-5D8C-7685-04D0FAD07A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52" y="4918710"/>
            <a:ext cx="1428949" cy="600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3AFE2F-D0F9-1D11-03E0-71DFE2991E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393" y="3272187"/>
            <a:ext cx="2429214" cy="5430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509B2E-5EFA-6DB7-430F-016DBC8B6C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472" y="5788830"/>
            <a:ext cx="943107" cy="333422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795C65C-6D47-846C-AFB1-D6EBD8A91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07" y="4772108"/>
            <a:ext cx="5791200" cy="1400091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l-GR" sz="4000"/>
              <a:t>Ψ</a:t>
            </a:r>
            <a:r>
              <a:rPr lang="en-US" sz="4000"/>
              <a:t> need to be orthonormal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/>
              <a:t>Two cases….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1014D-056C-2D8C-456D-4352E37D76B9}"/>
              </a:ext>
            </a:extLst>
          </p:cNvPr>
          <p:cNvSpPr txBox="1"/>
          <p:nvPr/>
        </p:nvSpPr>
        <p:spPr>
          <a:xfrm>
            <a:off x="10820400" y="304800"/>
            <a:ext cx="6399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D2B39E-6481-E3ED-8E57-15C65EC32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389" y="2881572"/>
            <a:ext cx="148610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3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FA1F-FEA1-CBFE-ECDA-C762D672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Extension to H</a:t>
            </a:r>
            <a:r>
              <a:rPr lang="en-US" baseline="-25000"/>
              <a:t>2</a:t>
            </a:r>
            <a:r>
              <a:rPr lang="en-US"/>
              <a:t> molecule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1B349-8B74-76B9-401F-A52C8504A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9598153" cy="185906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Similar derivation can be done with H</a:t>
            </a:r>
            <a:r>
              <a:rPr lang="en-US" sz="2000" baseline="-2500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/>
              <a:t>Ψ</a:t>
            </a:r>
            <a:r>
              <a:rPr lang="en-US" sz="2000"/>
              <a:t> is now a linear combination of two s orbitals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Molecular orbitals must be orthonormal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/>
              <a:t>Two cases..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In this case S</a:t>
            </a:r>
            <a:r>
              <a:rPr lang="en-US" sz="2000" baseline="-25000"/>
              <a:t>ij</a:t>
            </a:r>
            <a:r>
              <a:rPr lang="en-US" sz="2000"/>
              <a:t> is nonzero for the two orbitals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D0740-7B90-F074-B190-AAB1E8B32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450" y="5090871"/>
            <a:ext cx="943107" cy="333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DD2EC1-904F-7936-231E-439D3CE24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53" y="4411867"/>
            <a:ext cx="1486107" cy="390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03A0D3-B110-FFC5-91B3-109946092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370" y="4068865"/>
            <a:ext cx="2676899" cy="16290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986D10-DB5C-8EAC-32A7-044961354C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098" y="4057708"/>
            <a:ext cx="2610214" cy="144800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FA4FD-DB85-F66A-6C8B-E9EE2522A573}"/>
              </a:ext>
            </a:extLst>
          </p:cNvPr>
          <p:cNvGrpSpPr/>
          <p:nvPr/>
        </p:nvGrpSpPr>
        <p:grpSpPr>
          <a:xfrm>
            <a:off x="4400976" y="5505710"/>
            <a:ext cx="6567163" cy="1074886"/>
            <a:chOff x="4400977" y="5125799"/>
            <a:chExt cx="6567163" cy="107488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E37BE3B-3B57-5F3C-E630-E9BD2DCD3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5610" y="5125799"/>
              <a:ext cx="2362530" cy="10478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4803EE9-8B8F-E9CB-EF71-0478A69D0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0977" y="5286157"/>
              <a:ext cx="2419688" cy="914528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D73079AB-FE61-A618-AC47-657354AE0F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4" y="5646633"/>
            <a:ext cx="2743200" cy="525567"/>
          </a:xfrm>
          <a:prstGeom prst="rect">
            <a:avLst/>
          </a:prstGeom>
        </p:spPr>
      </p:pic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F49D409F-58A9-8E4A-F4C9-76FE04F99CE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315189" y="1447801"/>
            <a:ext cx="2841977" cy="28955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90E87-1D3B-0EB6-9749-B4326190F035}"/>
              </a:ext>
            </a:extLst>
          </p:cNvPr>
          <p:cNvSpPr txBox="1"/>
          <p:nvPr/>
        </p:nvSpPr>
        <p:spPr>
          <a:xfrm>
            <a:off x="10648180" y="976581"/>
            <a:ext cx="6399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8422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4C83-52CE-0231-2A21-76EFFA946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DAAB6-47C5-37A2-B52A-FEDCA810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</a:t>
            </a:r>
            <a:r>
              <a:rPr lang="en-US" baseline="-25000"/>
              <a:t>2</a:t>
            </a:r>
            <a:r>
              <a:rPr lang="en-US"/>
              <a:t> molecule orbitals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35DB733-FDBA-EB94-9310-BDFFBFF41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190" y="1607798"/>
            <a:ext cx="4781198" cy="47811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A01FF0-AF5F-D567-3373-1B0329640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33" b="18411"/>
          <a:stretch>
            <a:fillRect/>
          </a:stretch>
        </p:blipFill>
        <p:spPr>
          <a:xfrm>
            <a:off x="3516083" y="5060308"/>
            <a:ext cx="2676899" cy="11118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7B64C9-043B-24DF-7D92-C1D1291DCB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28" t="10629" r="17565" b="2111"/>
          <a:stretch>
            <a:fillRect/>
          </a:stretch>
        </p:blipFill>
        <p:spPr>
          <a:xfrm>
            <a:off x="3882301" y="2166178"/>
            <a:ext cx="1524000" cy="914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DFAC65-B57D-36C1-385F-41F98577EC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5667"/>
          <a:stretch>
            <a:fillRect/>
          </a:stretch>
        </p:blipFill>
        <p:spPr>
          <a:xfrm>
            <a:off x="3339194" y="2085204"/>
            <a:ext cx="2610214" cy="10763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14DCD3-7B70-4191-AC52-D20CE1AA37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968788" y="5181600"/>
            <a:ext cx="2419688" cy="914527"/>
          </a:xfrm>
          <a:prstGeom prst="rect">
            <a:avLst/>
          </a:prstGeom>
        </p:spPr>
      </p:pic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463527B7-415C-C478-30CB-0239730B497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756068" y="4130800"/>
            <a:ext cx="2841977" cy="289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13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3BFBC-8849-C4BC-8B23-9A80B1C36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Hartree Fock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1F37D-0AEA-A9CC-4F38-A05D2C3D7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15805"/>
            <a:ext cx="10963656" cy="138646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question is now what is your actual Hamiltonian and how do you get energies?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Treat electron orbitals separately and the overall electron-electron interaction is treated as an average potential/mean field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/>
              <a:t>Hartree-Fock Theory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/>
              <a:t>Single Slater determinant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A2A7EA-6552-A177-FCF8-B46ABCCB3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0" y="3002268"/>
            <a:ext cx="5801535" cy="1286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6FFDFA-B798-B4A2-508E-73BFCF096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888272"/>
            <a:ext cx="4201111" cy="21720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DA0C73-7905-6FE9-0243-BB0011EB05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598488"/>
            <a:ext cx="3961293" cy="76362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A7C0A2-DC26-70DA-3B51-E17F331F15A7}"/>
              </a:ext>
            </a:extLst>
          </p:cNvPr>
          <p:cNvCxnSpPr>
            <a:cxnSpLocks/>
          </p:cNvCxnSpPr>
          <p:nvPr/>
        </p:nvCxnSpPr>
        <p:spPr>
          <a:xfrm flipV="1">
            <a:off x="4521271" y="4882927"/>
            <a:ext cx="3517829" cy="80715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FC08F0-07DC-34B1-AD77-1AAFA7B0284D}"/>
              </a:ext>
            </a:extLst>
          </p:cNvPr>
          <p:cNvCxnSpPr>
            <a:cxnSpLocks/>
          </p:cNvCxnSpPr>
          <p:nvPr/>
        </p:nvCxnSpPr>
        <p:spPr>
          <a:xfrm>
            <a:off x="4521271" y="4974273"/>
            <a:ext cx="3098729" cy="472347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D3FB903F-3D3C-8BE6-0B25-6F7B930CDD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38"/>
          <a:stretch>
            <a:fillRect/>
          </a:stretch>
        </p:blipFill>
        <p:spPr>
          <a:xfrm>
            <a:off x="7239000" y="2634808"/>
            <a:ext cx="3000794" cy="669839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CD869B-325F-CB3A-7600-8121DDB89DBF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5902491" y="2969728"/>
            <a:ext cx="1336509" cy="417653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2BA48D-49F3-09A4-0F85-A78B19E4E70E}"/>
              </a:ext>
            </a:extLst>
          </p:cNvPr>
          <p:cNvCxnSpPr>
            <a:cxnSpLocks/>
          </p:cNvCxnSpPr>
          <p:nvPr/>
        </p:nvCxnSpPr>
        <p:spPr>
          <a:xfrm>
            <a:off x="7772400" y="3270974"/>
            <a:ext cx="637168" cy="0"/>
          </a:xfrm>
          <a:prstGeom prst="straightConnector1">
            <a:avLst/>
          </a:prstGeom>
          <a:ln w="73025"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22086C93-DFBF-E92A-3337-807933A5CB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659" y="5539259"/>
            <a:ext cx="1676634" cy="9431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71D9057-9C78-32AE-2D09-E47E054767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044" y="5763127"/>
            <a:ext cx="1419423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6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AB5E-AC3A-2414-7C26-32F229020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Hartree Fock Nomeclature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DB6A330-B0D6-88B7-CA97-D0F9A4F46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072" y="2938038"/>
            <a:ext cx="3505689" cy="790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CAC2E3-FE42-E4EA-0BD9-2D1C0AECCF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52037"/>
            <a:ext cx="4201111" cy="2172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2D54D0-7283-904A-D020-35E2CC515C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980" y="5200870"/>
            <a:ext cx="3896269" cy="15858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7E788F-329F-707D-39B0-24708865C8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837" y="3855403"/>
            <a:ext cx="3896269" cy="97168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1192E4-5EA3-4AF9-8CFE-3725BC7448FA}"/>
              </a:ext>
            </a:extLst>
          </p:cNvPr>
          <p:cNvCxnSpPr>
            <a:cxnSpLocks/>
          </p:cNvCxnSpPr>
          <p:nvPr/>
        </p:nvCxnSpPr>
        <p:spPr>
          <a:xfrm>
            <a:off x="4423625" y="2884868"/>
            <a:ext cx="2053375" cy="383162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DF64BE-02EF-380E-3B99-358323A49899}"/>
              </a:ext>
            </a:extLst>
          </p:cNvPr>
          <p:cNvCxnSpPr>
            <a:cxnSpLocks/>
          </p:cNvCxnSpPr>
          <p:nvPr/>
        </p:nvCxnSpPr>
        <p:spPr>
          <a:xfrm>
            <a:off x="4705506" y="3449876"/>
            <a:ext cx="1656221" cy="849154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B151E88-AFF5-DD90-8A43-A37BB3CCB530}"/>
              </a:ext>
            </a:extLst>
          </p:cNvPr>
          <p:cNvGrpSpPr/>
          <p:nvPr/>
        </p:nvGrpSpPr>
        <p:grpSpPr>
          <a:xfrm>
            <a:off x="4423625" y="1385616"/>
            <a:ext cx="7586066" cy="1413302"/>
            <a:chOff x="4423625" y="1385616"/>
            <a:chExt cx="7586066" cy="14133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EE2330-8C3A-4588-F9AA-AF6E80DEB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57441" y="1589074"/>
              <a:ext cx="3010320" cy="120984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077A19E-72C2-5D66-B3D1-60DE9059214F}"/>
                </a:ext>
              </a:extLst>
            </p:cNvPr>
            <p:cNvSpPr txBox="1"/>
            <p:nvPr/>
          </p:nvSpPr>
          <p:spPr>
            <a:xfrm>
              <a:off x="10181057" y="1385616"/>
              <a:ext cx="1828634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One electron operators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A72D851-0AC1-6A0C-7043-6484DA8898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3625" y="2153209"/>
              <a:ext cx="2510575" cy="105984"/>
            </a:xfrm>
            <a:prstGeom prst="straightConnector1">
              <a:avLst/>
            </a:prstGeom>
            <a:ln w="7302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03AE593-BF78-791B-FCAF-43AD9829B477}"/>
              </a:ext>
            </a:extLst>
          </p:cNvPr>
          <p:cNvSpPr txBox="1"/>
          <p:nvPr/>
        </p:nvSpPr>
        <p:spPr>
          <a:xfrm>
            <a:off x="10268106" y="2864330"/>
            <a:ext cx="18286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Coloumb Operator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BD506A-8BDE-2D09-00C0-E34634DD29B7}"/>
              </a:ext>
            </a:extLst>
          </p:cNvPr>
          <p:cNvSpPr txBox="1"/>
          <p:nvPr/>
        </p:nvSpPr>
        <p:spPr>
          <a:xfrm>
            <a:off x="10363366" y="3894970"/>
            <a:ext cx="18286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Exchange Operator</a:t>
            </a:r>
          </a:p>
        </p:txBody>
      </p:sp>
    </p:spTree>
    <p:extLst>
      <p:ext uri="{BB962C8B-B14F-4D97-AF65-F5344CB8AC3E}">
        <p14:creationId xmlns:p14="http://schemas.microsoft.com/office/powerpoint/2010/main" val="101321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D0F0-C99E-0979-5C7F-F9FD6DAC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Analogy to Secular Equations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02293-1A58-CDB1-D9EE-38D5FD092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0"/>
            <a:ext cx="3896269" cy="1585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041F49-30CA-BF2A-69FD-2C6736262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765" y="2007566"/>
            <a:ext cx="3993420" cy="13091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DEB88E-FA4D-4E81-A729-1D7005D010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0" y="2662117"/>
            <a:ext cx="2800741" cy="211484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ECB7320-16D0-00F0-FE9C-9038063975B0}"/>
              </a:ext>
            </a:extLst>
          </p:cNvPr>
          <p:cNvGrpSpPr/>
          <p:nvPr/>
        </p:nvGrpSpPr>
        <p:grpSpPr>
          <a:xfrm>
            <a:off x="3896269" y="3338251"/>
            <a:ext cx="4436747" cy="2283592"/>
            <a:chOff x="3896269" y="3338251"/>
            <a:chExt cx="4436747" cy="228359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A0DB4BB-590E-263A-0A3E-9C8A46EF5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9903" y="4416995"/>
              <a:ext cx="4253113" cy="1204848"/>
            </a:xfrm>
            <a:prstGeom prst="rect">
              <a:avLst/>
            </a:prstGeom>
          </p:spPr>
        </p:pic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424DA16F-E2A4-DEAF-00C0-AFFEFD320B8D}"/>
                </a:ext>
              </a:extLst>
            </p:cNvPr>
            <p:cNvCxnSpPr>
              <a:cxnSpLocks/>
            </p:cNvCxnSpPr>
            <p:nvPr/>
          </p:nvCxnSpPr>
          <p:spPr>
            <a:xfrm>
              <a:off x="5943600" y="3338251"/>
              <a:ext cx="0" cy="1078744"/>
            </a:xfrm>
            <a:prstGeom prst="straightConnector1">
              <a:avLst/>
            </a:prstGeom>
            <a:ln w="7302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A51FDBD-B2E8-AAD8-E5B1-DB75651D43EE}"/>
                </a:ext>
              </a:extLst>
            </p:cNvPr>
            <p:cNvCxnSpPr>
              <a:cxnSpLocks/>
            </p:cNvCxnSpPr>
            <p:nvPr/>
          </p:nvCxnSpPr>
          <p:spPr>
            <a:xfrm>
              <a:off x="3896269" y="3667755"/>
              <a:ext cx="2047331" cy="727657"/>
            </a:xfrm>
            <a:prstGeom prst="straightConnector1">
              <a:avLst/>
            </a:prstGeom>
            <a:ln w="7302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070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4EC6-1E18-0913-24DD-EB064A2BD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HArtEE Fock Energy of H</a:t>
            </a:r>
            <a:r>
              <a:rPr lang="en-US" baseline="-25000"/>
              <a:t>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C1059-BACD-78F9-4D2A-DBA365A8B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696200" y="1828800"/>
            <a:ext cx="2841977" cy="28955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C4978C-AF6F-C035-469E-9F2B2FCF0F65}"/>
              </a:ext>
            </a:extLst>
          </p:cNvPr>
          <p:cNvSpPr txBox="1">
            <a:spLocks/>
          </p:cNvSpPr>
          <p:nvPr/>
        </p:nvSpPr>
        <p:spPr>
          <a:xfrm>
            <a:off x="612647" y="1828800"/>
            <a:ext cx="10963656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Bond distance of 0.7414 Å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HF Calculated to be -1.133 Hartrees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Exact energy is -1.174 Hartrees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What is wrong?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Hartree Fock makes electron-electron interactions an approximate mean field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31AC55-51D0-061B-0B7D-5AC04C579B9D}"/>
              </a:ext>
            </a:extLst>
          </p:cNvPr>
          <p:cNvSpPr txBox="1"/>
          <p:nvPr/>
        </p:nvSpPr>
        <p:spPr>
          <a:xfrm>
            <a:off x="33528" y="6550223"/>
            <a:ext cx="1585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White = Hydrogen</a:t>
            </a:r>
          </a:p>
        </p:txBody>
      </p:sp>
    </p:spTree>
    <p:extLst>
      <p:ext uri="{BB962C8B-B14F-4D97-AF65-F5344CB8AC3E}">
        <p14:creationId xmlns:p14="http://schemas.microsoft.com/office/powerpoint/2010/main" val="138344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0F17-5BC7-C60F-3187-E28A65325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We do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A908D-C0AE-DDC0-1CC3-D7D18A57E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" y="1828800"/>
            <a:ext cx="6931153" cy="43434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Hartree fock is an averaged potential approximation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Electrons are not static and move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400"/>
              <a:t>Their movement impact other electrons and vice versa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This is called correlation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AD89A-1BE8-49AD-E084-5EA348501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209800"/>
            <a:ext cx="4344182" cy="28961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EE75F7-99E7-5510-A9C0-7ADCCBCFB1EF}"/>
              </a:ext>
            </a:extLst>
          </p:cNvPr>
          <p:cNvSpPr txBox="1"/>
          <p:nvPr/>
        </p:nvSpPr>
        <p:spPr>
          <a:xfrm>
            <a:off x="9525000" y="5115065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Artist rendition*</a:t>
            </a:r>
          </a:p>
        </p:txBody>
      </p:sp>
    </p:spTree>
    <p:extLst>
      <p:ext uri="{BB962C8B-B14F-4D97-AF65-F5344CB8AC3E}">
        <p14:creationId xmlns:p14="http://schemas.microsoft.com/office/powerpoint/2010/main" val="2666319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557B-95E4-4BDA-A9BC-6BCD518A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Including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8773C-118A-7C71-9F41-BA705CCCF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One way is explanding your single slater determinant to include excited state configurations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/>
              <a:t>Exact if all included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In a real calculation you have to do a finite expansion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This specific expansion is called </a:t>
            </a:r>
            <a:r>
              <a:rPr lang="en-US" sz="2000" b="1" u="sng"/>
              <a:t>Configuration Interaction (CI)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/>
              <a:t>Including all excitations is called </a:t>
            </a:r>
            <a:r>
              <a:rPr lang="en-US" sz="2000" b="1" u="sng"/>
              <a:t>Full CI (FCI)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654F0-21BE-1D14-5185-2553A74A3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886200"/>
            <a:ext cx="3546018" cy="1199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F3477A-4965-4407-E1A0-48E3EC5EE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684" y="5057257"/>
            <a:ext cx="5553850" cy="971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6842BF-3F71-EE3D-6795-2CE94BA1D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68"/>
          <a:stretch>
            <a:fillRect/>
          </a:stretch>
        </p:blipFill>
        <p:spPr>
          <a:xfrm>
            <a:off x="7695868" y="3690860"/>
            <a:ext cx="4125326" cy="151975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08402B-AD56-8707-3A16-ECD346EA9D1C}"/>
              </a:ext>
            </a:extLst>
          </p:cNvPr>
          <p:cNvCxnSpPr>
            <a:cxnSpLocks/>
          </p:cNvCxnSpPr>
          <p:nvPr/>
        </p:nvCxnSpPr>
        <p:spPr>
          <a:xfrm>
            <a:off x="6321159" y="4485894"/>
            <a:ext cx="1374709" cy="0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DD908-0A3B-451C-1D9C-4381B4022378}"/>
              </a:ext>
            </a:extLst>
          </p:cNvPr>
          <p:cNvSpPr/>
          <p:nvPr/>
        </p:nvSpPr>
        <p:spPr>
          <a:xfrm>
            <a:off x="5902059" y="4238655"/>
            <a:ext cx="419100" cy="494477"/>
          </a:xfrm>
          <a:prstGeom prst="rect">
            <a:avLst/>
          </a:prstGeom>
          <a:noFill/>
          <a:ln w="34925">
            <a:solidFill>
              <a:srgbClr val="A345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1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08E49-51EF-27C2-2202-BD7B7982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4CBB-8FB7-4C4E-BEC9-7A97F8C5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Including Correlation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EA70D8-0B20-AC33-5DD5-0C1907C38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143" y="3071503"/>
            <a:ext cx="5553850" cy="97168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CE68AFD-923C-51D5-95A9-127C0187BD7C}"/>
              </a:ext>
            </a:extLst>
          </p:cNvPr>
          <p:cNvGrpSpPr/>
          <p:nvPr/>
        </p:nvGrpSpPr>
        <p:grpSpPr>
          <a:xfrm>
            <a:off x="3789053" y="3211541"/>
            <a:ext cx="1524000" cy="3249907"/>
            <a:chOff x="3789053" y="3211541"/>
            <a:chExt cx="1524000" cy="324990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4AF0EC9-40C2-6E1F-7856-FF31D159FCE7}"/>
                </a:ext>
              </a:extLst>
            </p:cNvPr>
            <p:cNvCxnSpPr>
              <a:cxnSpLocks/>
            </p:cNvCxnSpPr>
            <p:nvPr/>
          </p:nvCxnSpPr>
          <p:spPr>
            <a:xfrm>
              <a:off x="4599028" y="3820320"/>
              <a:ext cx="0" cy="746446"/>
            </a:xfrm>
            <a:prstGeom prst="straightConnector1">
              <a:avLst/>
            </a:prstGeom>
            <a:ln w="7302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8EF786-ED11-E65C-5A2C-BE742EFF2D4F}"/>
                </a:ext>
              </a:extLst>
            </p:cNvPr>
            <p:cNvSpPr/>
            <p:nvPr/>
          </p:nvSpPr>
          <p:spPr>
            <a:xfrm>
              <a:off x="4341502" y="3211541"/>
              <a:ext cx="459095" cy="534931"/>
            </a:xfrm>
            <a:prstGeom prst="rect">
              <a:avLst/>
            </a:prstGeom>
            <a:noFill/>
            <a:ln w="34925">
              <a:solidFill>
                <a:srgbClr val="A345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119E4D2-1934-4051-177E-7DA194294A58}"/>
                </a:ext>
              </a:extLst>
            </p:cNvPr>
            <p:cNvGrpSpPr/>
            <p:nvPr/>
          </p:nvGrpSpPr>
          <p:grpSpPr>
            <a:xfrm>
              <a:off x="3789053" y="4958230"/>
              <a:ext cx="1524000" cy="1503218"/>
              <a:chOff x="4038600" y="1925782"/>
              <a:chExt cx="1524000" cy="1503218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D174F91-B28D-C018-DF01-4F25E0535DAA}"/>
                  </a:ext>
                </a:extLst>
              </p:cNvPr>
              <p:cNvCxnSpPr/>
              <p:nvPr/>
            </p:nvCxnSpPr>
            <p:spPr>
              <a:xfrm>
                <a:off x="4038600" y="2794000"/>
                <a:ext cx="1524000" cy="0"/>
              </a:xfrm>
              <a:prstGeom prst="line">
                <a:avLst/>
              </a:prstGeom>
              <a:ln w="603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48C92F9-E323-C573-29D0-3CB56D5C3009}"/>
                  </a:ext>
                </a:extLst>
              </p:cNvPr>
              <p:cNvCxnSpPr/>
              <p:nvPr/>
            </p:nvCxnSpPr>
            <p:spPr>
              <a:xfrm>
                <a:off x="4038600" y="1925782"/>
                <a:ext cx="1524000" cy="0"/>
              </a:xfrm>
              <a:prstGeom prst="line">
                <a:avLst/>
              </a:prstGeom>
              <a:ln w="603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2150A29F-36F1-A786-2EE7-7B4A006514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48200" y="2154382"/>
                <a:ext cx="0" cy="1198418"/>
              </a:xfrm>
              <a:prstGeom prst="straightConnector1">
                <a:avLst/>
              </a:prstGeom>
              <a:ln w="539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8F76DA0-C662-E4A9-9929-F22AE42979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5400" y="2209800"/>
                <a:ext cx="0" cy="1219200"/>
              </a:xfrm>
              <a:prstGeom prst="straightConnector1">
                <a:avLst/>
              </a:prstGeom>
              <a:ln w="539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63BD43-C0B2-5AE0-FA73-706C6F93BDC1}"/>
              </a:ext>
            </a:extLst>
          </p:cNvPr>
          <p:cNvGrpSpPr/>
          <p:nvPr/>
        </p:nvGrpSpPr>
        <p:grpSpPr>
          <a:xfrm>
            <a:off x="5267475" y="3251995"/>
            <a:ext cx="2934325" cy="3072496"/>
            <a:chOff x="5267475" y="3251995"/>
            <a:chExt cx="2934325" cy="307249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4727474-BFB1-440F-E5BA-8D9108869C8C}"/>
                </a:ext>
              </a:extLst>
            </p:cNvPr>
            <p:cNvGrpSpPr/>
            <p:nvPr/>
          </p:nvGrpSpPr>
          <p:grpSpPr>
            <a:xfrm>
              <a:off x="6676275" y="4566766"/>
              <a:ext cx="1525525" cy="1757725"/>
              <a:chOff x="6925822" y="1534318"/>
              <a:chExt cx="1525525" cy="1757725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99555BD7-D222-7D23-2ED2-EAE038712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0346" y="1534318"/>
                <a:ext cx="11546" cy="1038370"/>
              </a:xfrm>
              <a:prstGeom prst="straightConnector1">
                <a:avLst/>
              </a:prstGeom>
              <a:ln w="539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CBCF975-08BB-0A12-76BD-589F78DDF62A}"/>
                  </a:ext>
                </a:extLst>
              </p:cNvPr>
              <p:cNvCxnSpPr/>
              <p:nvPr/>
            </p:nvCxnSpPr>
            <p:spPr>
              <a:xfrm>
                <a:off x="6925822" y="2794000"/>
                <a:ext cx="1524000" cy="0"/>
              </a:xfrm>
              <a:prstGeom prst="line">
                <a:avLst/>
              </a:prstGeom>
              <a:ln w="603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9E42A3B-A86B-4DDD-AE74-5F80CFF6F083}"/>
                  </a:ext>
                </a:extLst>
              </p:cNvPr>
              <p:cNvCxnSpPr/>
              <p:nvPr/>
            </p:nvCxnSpPr>
            <p:spPr>
              <a:xfrm>
                <a:off x="6927347" y="1923473"/>
                <a:ext cx="1524000" cy="0"/>
              </a:xfrm>
              <a:prstGeom prst="line">
                <a:avLst/>
              </a:prstGeom>
              <a:ln w="603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64972E8F-D626-8B62-AE92-DC9180782E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36947" y="2179782"/>
                <a:ext cx="0" cy="1112261"/>
              </a:xfrm>
              <a:prstGeom prst="straightConnector1">
                <a:avLst/>
              </a:prstGeom>
              <a:ln w="539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9402366-9D6D-5DE8-AF4B-5BA94D9A9EF7}"/>
                </a:ext>
              </a:extLst>
            </p:cNvPr>
            <p:cNvCxnSpPr>
              <a:cxnSpLocks/>
            </p:cNvCxnSpPr>
            <p:nvPr/>
          </p:nvCxnSpPr>
          <p:spPr>
            <a:xfrm>
              <a:off x="5562601" y="3746472"/>
              <a:ext cx="1371599" cy="820294"/>
            </a:xfrm>
            <a:prstGeom prst="straightConnector1">
              <a:avLst/>
            </a:prstGeom>
            <a:ln w="7302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BF49F9-5393-8744-0773-51FC5B7098E2}"/>
                </a:ext>
              </a:extLst>
            </p:cNvPr>
            <p:cNvSpPr/>
            <p:nvPr/>
          </p:nvSpPr>
          <p:spPr>
            <a:xfrm>
              <a:off x="5267475" y="3251995"/>
              <a:ext cx="459095" cy="494477"/>
            </a:xfrm>
            <a:prstGeom prst="rect">
              <a:avLst/>
            </a:prstGeom>
            <a:noFill/>
            <a:ln w="34925">
              <a:solidFill>
                <a:srgbClr val="A345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4507F6B1-6E2A-EC66-5F7A-A2E5A307F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22628" y="1539552"/>
            <a:ext cx="2841977" cy="2895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8FB2EE-A21A-A0DE-5160-BC23B4397497}"/>
              </a:ext>
            </a:extLst>
          </p:cNvPr>
          <p:cNvSpPr txBox="1"/>
          <p:nvPr/>
        </p:nvSpPr>
        <p:spPr>
          <a:xfrm>
            <a:off x="33528" y="6550223"/>
            <a:ext cx="1585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White = Hydrogen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7E03801-CD8A-E58C-ED3D-C60D0DD58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5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802F2-314D-0C20-F30E-C20A8E9F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Brillouins theorem and Restricted Wavenfunctions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5F38-01C2-6F38-349A-AB7925DBE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2767698" cy="43434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Single excitations will not interact directly with the ground state reference Hartree-Fock determinant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/>
              <a:t>For H</a:t>
            </a:r>
            <a:r>
              <a:rPr lang="en-US" sz="2000" baseline="-25000"/>
              <a:t>2</a:t>
            </a:r>
            <a:r>
              <a:rPr lang="en-US" sz="2000"/>
              <a:t> there are no single excitations that couple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Only the same spin states couple together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36799-AE9E-978F-1DE5-CA4F0BA2B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172" y="2828249"/>
            <a:ext cx="6860455" cy="120028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AE587C-9043-BC46-1E92-C7DD51C3A916}"/>
              </a:ext>
            </a:extLst>
          </p:cNvPr>
          <p:cNvCxnSpPr>
            <a:cxnSpLocks/>
          </p:cNvCxnSpPr>
          <p:nvPr/>
        </p:nvCxnSpPr>
        <p:spPr>
          <a:xfrm flipV="1">
            <a:off x="6066972" y="2980649"/>
            <a:ext cx="503763" cy="641916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DC3791-9D28-85ED-8A60-B781759AC092}"/>
              </a:ext>
            </a:extLst>
          </p:cNvPr>
          <p:cNvSpPr txBox="1"/>
          <p:nvPr/>
        </p:nvSpPr>
        <p:spPr>
          <a:xfrm>
            <a:off x="6524172" y="244725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CD4C15-1BE8-092F-5E12-7152AFB3AC91}"/>
              </a:ext>
            </a:extLst>
          </p:cNvPr>
          <p:cNvGrpSpPr/>
          <p:nvPr/>
        </p:nvGrpSpPr>
        <p:grpSpPr>
          <a:xfrm>
            <a:off x="3789053" y="4958230"/>
            <a:ext cx="1524000" cy="1503218"/>
            <a:chOff x="4038600" y="1925782"/>
            <a:chExt cx="1524000" cy="150321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D5FFCFF-E6AA-C30E-A901-91498D146843}"/>
                </a:ext>
              </a:extLst>
            </p:cNvPr>
            <p:cNvCxnSpPr/>
            <p:nvPr/>
          </p:nvCxnSpPr>
          <p:spPr>
            <a:xfrm>
              <a:off x="4038600" y="2794000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16EB45-3108-CC22-71AB-D01A7078A05A}"/>
                </a:ext>
              </a:extLst>
            </p:cNvPr>
            <p:cNvCxnSpPr/>
            <p:nvPr/>
          </p:nvCxnSpPr>
          <p:spPr>
            <a:xfrm>
              <a:off x="4038600" y="1925782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4E4EDC-DEB3-2BE5-2F0E-8EEE523D41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200" y="2154382"/>
              <a:ext cx="0" cy="1198418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F01DC13-8673-BBFB-911A-0F6F31A5A6FF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2209800"/>
              <a:ext cx="0" cy="121920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A45F4D-934C-C52D-0881-E9394BF134D4}"/>
              </a:ext>
            </a:extLst>
          </p:cNvPr>
          <p:cNvGrpSpPr/>
          <p:nvPr/>
        </p:nvGrpSpPr>
        <p:grpSpPr>
          <a:xfrm>
            <a:off x="6676275" y="4566766"/>
            <a:ext cx="1525525" cy="1757725"/>
            <a:chOff x="6925822" y="1534318"/>
            <a:chExt cx="1525525" cy="175772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9BBDF5E-70C5-69E8-6790-C32FEBE8D3D7}"/>
                </a:ext>
              </a:extLst>
            </p:cNvPr>
            <p:cNvCxnSpPr>
              <a:cxnSpLocks/>
            </p:cNvCxnSpPr>
            <p:nvPr/>
          </p:nvCxnSpPr>
          <p:spPr>
            <a:xfrm>
              <a:off x="8070346" y="1534318"/>
              <a:ext cx="11546" cy="103837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5D9CF91-C576-DB2D-D2AA-8F69F003C192}"/>
                </a:ext>
              </a:extLst>
            </p:cNvPr>
            <p:cNvCxnSpPr/>
            <p:nvPr/>
          </p:nvCxnSpPr>
          <p:spPr>
            <a:xfrm>
              <a:off x="6925822" y="2794000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F12448-4D23-3CD1-2743-8D500FF435F2}"/>
                </a:ext>
              </a:extLst>
            </p:cNvPr>
            <p:cNvCxnSpPr/>
            <p:nvPr/>
          </p:nvCxnSpPr>
          <p:spPr>
            <a:xfrm>
              <a:off x="6927347" y="1923473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7736629-B640-25A0-B5D6-6BC206937F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6947" y="2179782"/>
              <a:ext cx="0" cy="1112261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3F8C36-C22B-C3F7-5574-28DC14A4AE93}"/>
              </a:ext>
            </a:extLst>
          </p:cNvPr>
          <p:cNvGrpSpPr/>
          <p:nvPr/>
        </p:nvGrpSpPr>
        <p:grpSpPr>
          <a:xfrm>
            <a:off x="9573798" y="4328715"/>
            <a:ext cx="1524000" cy="2056533"/>
            <a:chOff x="4038600" y="3790085"/>
            <a:chExt cx="1524000" cy="20565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7C69057-CDB3-25CF-1E5A-E2D3616B2F73}"/>
                </a:ext>
              </a:extLst>
            </p:cNvPr>
            <p:cNvCxnSpPr/>
            <p:nvPr/>
          </p:nvCxnSpPr>
          <p:spPr>
            <a:xfrm>
              <a:off x="4038600" y="5334000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24D913A-6311-82FD-A535-E1AC4772E759}"/>
                </a:ext>
              </a:extLst>
            </p:cNvPr>
            <p:cNvCxnSpPr/>
            <p:nvPr/>
          </p:nvCxnSpPr>
          <p:spPr>
            <a:xfrm>
              <a:off x="4038600" y="4489701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85F1023-849B-DED6-2FDB-BB32A76794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6909" y="4648200"/>
              <a:ext cx="0" cy="1198418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423970-57B0-7730-86F6-D0E5690CE8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200" y="3790085"/>
              <a:ext cx="0" cy="1198418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Content Placeholder 4">
            <a:extLst>
              <a:ext uri="{FF2B5EF4-FFF2-40B4-BE49-F238E27FC236}">
                <a16:creationId xmlns:a16="http://schemas.microsoft.com/office/drawing/2014/main" id="{D23E2927-5078-409B-4967-83007D2F35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54691" y="985369"/>
            <a:ext cx="2841977" cy="28955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FB074E6-8AA1-4DD7-D4EB-3CB5A439908C}"/>
              </a:ext>
            </a:extLst>
          </p:cNvPr>
          <p:cNvGrpSpPr/>
          <p:nvPr/>
        </p:nvGrpSpPr>
        <p:grpSpPr>
          <a:xfrm>
            <a:off x="6676275" y="4181087"/>
            <a:ext cx="4958738" cy="2380765"/>
            <a:chOff x="6676275" y="4181087"/>
            <a:chExt cx="4958738" cy="2380765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DE04B59-5F04-F59A-F94F-D42D6CACA5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275" y="4202622"/>
              <a:ext cx="1623135" cy="2313566"/>
            </a:xfrm>
            <a:prstGeom prst="straightConnector1">
              <a:avLst/>
            </a:prstGeom>
            <a:ln w="730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916C410-1B12-1210-F144-6E49E3088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4230" y="4248286"/>
              <a:ext cx="1623135" cy="2313566"/>
            </a:xfrm>
            <a:prstGeom prst="straightConnector1">
              <a:avLst/>
            </a:prstGeom>
            <a:ln w="730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E506336-94B2-3098-1EA1-AD79B2577D86}"/>
                </a:ext>
              </a:extLst>
            </p:cNvPr>
            <p:cNvSpPr txBox="1"/>
            <p:nvPr/>
          </p:nvSpPr>
          <p:spPr>
            <a:xfrm>
              <a:off x="8274904" y="4274378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AD0B11-3453-25AC-1F98-29AD6E095107}"/>
                </a:ext>
              </a:extLst>
            </p:cNvPr>
            <p:cNvSpPr txBox="1"/>
            <p:nvPr/>
          </p:nvSpPr>
          <p:spPr>
            <a:xfrm>
              <a:off x="11245163" y="4181087"/>
              <a:ext cx="3898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285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2871-704E-2A36-451F-72BB2050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</a:t>
            </a:r>
            <a:r>
              <a:rPr lang="en-US" baseline="-25000"/>
              <a:t>2</a:t>
            </a:r>
            <a:r>
              <a:rPr lang="en-US"/>
              <a:t> Molecule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74A8A-EA3B-C2C3-01B0-780D38252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55" y="1861488"/>
            <a:ext cx="2000529" cy="103837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3F3B04AE-629F-34F5-556A-B7399F1D0A71}"/>
              </a:ext>
            </a:extLst>
          </p:cNvPr>
          <p:cNvGrpSpPr/>
          <p:nvPr/>
        </p:nvGrpSpPr>
        <p:grpSpPr>
          <a:xfrm>
            <a:off x="3495383" y="1925782"/>
            <a:ext cx="2067217" cy="1503218"/>
            <a:chOff x="3495383" y="1925782"/>
            <a:chExt cx="2067217" cy="150321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186EAA-5FA4-C74C-15F2-C1F6824C4384}"/>
                </a:ext>
              </a:extLst>
            </p:cNvPr>
            <p:cNvCxnSpPr/>
            <p:nvPr/>
          </p:nvCxnSpPr>
          <p:spPr>
            <a:xfrm>
              <a:off x="4038600" y="2794000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3D721DA-A0B5-9722-C4D8-113E5F9804DA}"/>
                </a:ext>
              </a:extLst>
            </p:cNvPr>
            <p:cNvCxnSpPr/>
            <p:nvPr/>
          </p:nvCxnSpPr>
          <p:spPr>
            <a:xfrm>
              <a:off x="4038600" y="1925782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00FBC42-4F8D-E2E2-07F1-CCD9444A6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200" y="2154382"/>
              <a:ext cx="0" cy="1198418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0BB8FE3-01E1-04D6-D0E2-C464431A7A0F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2209800"/>
              <a:ext cx="0" cy="121920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1C022E9-D0EE-DD3D-85E8-89470C4CE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91" t="-2" r="17979" b="80744"/>
            <a:stretch>
              <a:fillRect/>
            </a:stretch>
          </p:blipFill>
          <p:spPr>
            <a:xfrm>
              <a:off x="3495383" y="2133601"/>
              <a:ext cx="714092" cy="431796"/>
            </a:xfrm>
            <a:prstGeom prst="rect">
              <a:avLst/>
            </a:prstGeom>
          </p:spPr>
        </p:pic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94E91FE2-2A37-6501-F74A-1FDC64A93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64"/>
          <a:stretch>
            <a:fillRect/>
          </a:stretch>
        </p:blipFill>
        <p:spPr>
          <a:xfrm>
            <a:off x="2573575" y="6144634"/>
            <a:ext cx="6658904" cy="505773"/>
          </a:xfrm>
          <a:prstGeom prst="rect">
            <a:avLst/>
          </a:prstGeom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9E70E85A-22B5-D83E-AB6B-F1EA969DDE61}"/>
              </a:ext>
            </a:extLst>
          </p:cNvPr>
          <p:cNvGrpSpPr/>
          <p:nvPr/>
        </p:nvGrpSpPr>
        <p:grpSpPr>
          <a:xfrm>
            <a:off x="9426095" y="1406996"/>
            <a:ext cx="2437233" cy="1993575"/>
            <a:chOff x="9426095" y="1406996"/>
            <a:chExt cx="2437233" cy="1993575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F3670A-2B91-6AAB-AB14-B9B7A951D577}"/>
                </a:ext>
              </a:extLst>
            </p:cNvPr>
            <p:cNvCxnSpPr/>
            <p:nvPr/>
          </p:nvCxnSpPr>
          <p:spPr>
            <a:xfrm>
              <a:off x="10339328" y="2794000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2FC9C3E-146B-6E80-2E2F-D2FB6AB3569C}"/>
                </a:ext>
              </a:extLst>
            </p:cNvPr>
            <p:cNvCxnSpPr/>
            <p:nvPr/>
          </p:nvCxnSpPr>
          <p:spPr>
            <a:xfrm>
              <a:off x="10339328" y="1923473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898B84B-0ADC-94E8-B951-3B156BC3A7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24602" y="1406996"/>
              <a:ext cx="0" cy="96823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1871E56-83C1-EFD8-ED87-410D754BB9B4}"/>
                </a:ext>
              </a:extLst>
            </p:cNvPr>
            <p:cNvCxnSpPr>
              <a:cxnSpLocks/>
            </p:cNvCxnSpPr>
            <p:nvPr/>
          </p:nvCxnSpPr>
          <p:spPr>
            <a:xfrm>
              <a:off x="10881368" y="2362201"/>
              <a:ext cx="11546" cy="103837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DDE4319C-5034-6B11-4CDF-C16D3481B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289" t="48362" r="17221" b="36864"/>
            <a:stretch>
              <a:fillRect/>
            </a:stretch>
          </p:blipFill>
          <p:spPr>
            <a:xfrm>
              <a:off x="9426095" y="2111251"/>
              <a:ext cx="1118693" cy="475671"/>
            </a:xfrm>
            <a:prstGeom prst="rect">
              <a:avLst/>
            </a:prstGeom>
          </p:spPr>
        </p:pic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D4EC676-EFEF-AE11-2289-4E30A62F4030}"/>
              </a:ext>
            </a:extLst>
          </p:cNvPr>
          <p:cNvGrpSpPr/>
          <p:nvPr/>
        </p:nvGrpSpPr>
        <p:grpSpPr>
          <a:xfrm>
            <a:off x="6097322" y="3950133"/>
            <a:ext cx="2364045" cy="1956521"/>
            <a:chOff x="6097322" y="3950133"/>
            <a:chExt cx="2364045" cy="1956521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A0231A4-7052-63D6-182A-A56660A17F5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091" y="4786384"/>
              <a:ext cx="23091" cy="112027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0A8E680-CFAB-F5EE-BF21-AB0E7DFBBCCF}"/>
                </a:ext>
              </a:extLst>
            </p:cNvPr>
            <p:cNvCxnSpPr/>
            <p:nvPr/>
          </p:nvCxnSpPr>
          <p:spPr>
            <a:xfrm>
              <a:off x="6937367" y="5346519"/>
              <a:ext cx="1524000" cy="0"/>
            </a:xfrm>
            <a:prstGeom prst="line">
              <a:avLst/>
            </a:prstGeom>
            <a:ln w="6032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47CAB77-D1EE-AC44-9799-72A5F781C112}"/>
                </a:ext>
              </a:extLst>
            </p:cNvPr>
            <p:cNvCxnSpPr/>
            <p:nvPr/>
          </p:nvCxnSpPr>
          <p:spPr>
            <a:xfrm>
              <a:off x="6925822" y="4511350"/>
              <a:ext cx="1524000" cy="0"/>
            </a:xfrm>
            <a:prstGeom prst="line">
              <a:avLst/>
            </a:prstGeom>
            <a:ln w="6032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72B97ED-2F03-49C5-D65D-EDBE9C158A68}"/>
                </a:ext>
              </a:extLst>
            </p:cNvPr>
            <p:cNvCxnSpPr>
              <a:cxnSpLocks/>
            </p:cNvCxnSpPr>
            <p:nvPr/>
          </p:nvCxnSpPr>
          <p:spPr>
            <a:xfrm>
              <a:off x="7536947" y="3950133"/>
              <a:ext cx="11546" cy="103837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28F4DD59-DC65-59E2-EEDC-5F09A62C1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984" t="62754" r="14974" b="18638"/>
            <a:stretch>
              <a:fillRect/>
            </a:stretch>
          </p:blipFill>
          <p:spPr>
            <a:xfrm>
              <a:off x="6097322" y="4671257"/>
              <a:ext cx="828500" cy="436885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8986351-D364-EE2E-649D-CE8B4B117736}"/>
              </a:ext>
            </a:extLst>
          </p:cNvPr>
          <p:cNvGrpSpPr/>
          <p:nvPr/>
        </p:nvGrpSpPr>
        <p:grpSpPr>
          <a:xfrm>
            <a:off x="9346421" y="3958035"/>
            <a:ext cx="2591581" cy="1375965"/>
            <a:chOff x="9346421" y="3958035"/>
            <a:chExt cx="2591581" cy="1375965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5F1489F-874A-38C3-AEED-350DC0AB6507}"/>
                </a:ext>
              </a:extLst>
            </p:cNvPr>
            <p:cNvCxnSpPr>
              <a:cxnSpLocks/>
            </p:cNvCxnSpPr>
            <p:nvPr/>
          </p:nvCxnSpPr>
          <p:spPr>
            <a:xfrm>
              <a:off x="11369965" y="3958035"/>
              <a:ext cx="23091" cy="112027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3F0253D-BC05-FF5D-41F8-242B9ACDD176}"/>
                </a:ext>
              </a:extLst>
            </p:cNvPr>
            <p:cNvCxnSpPr/>
            <p:nvPr/>
          </p:nvCxnSpPr>
          <p:spPr>
            <a:xfrm>
              <a:off x="10414002" y="5334000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E31530E-8EA4-E431-E038-E1CAF48205DF}"/>
                </a:ext>
              </a:extLst>
            </p:cNvPr>
            <p:cNvCxnSpPr/>
            <p:nvPr/>
          </p:nvCxnSpPr>
          <p:spPr>
            <a:xfrm>
              <a:off x="10414002" y="4482774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2CA4916-9657-DCC1-A066-60BA6C0348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48928" y="3958035"/>
              <a:ext cx="0" cy="112027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E11D158A-E3BC-CA9F-103A-41BBC36CC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265" t="79700" r="18555"/>
            <a:stretch>
              <a:fillRect/>
            </a:stretch>
          </p:blipFill>
          <p:spPr>
            <a:xfrm>
              <a:off x="9346421" y="4606275"/>
              <a:ext cx="942109" cy="588705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6C4A454-FC72-A359-93F6-CD9CF7876C23}"/>
              </a:ext>
            </a:extLst>
          </p:cNvPr>
          <p:cNvGrpSpPr/>
          <p:nvPr/>
        </p:nvGrpSpPr>
        <p:grpSpPr>
          <a:xfrm>
            <a:off x="5976117" y="1534318"/>
            <a:ext cx="2475230" cy="1757725"/>
            <a:chOff x="5976117" y="1534318"/>
            <a:chExt cx="2475230" cy="175772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172544A-345B-C02F-6099-1C758BEC37B8}"/>
                </a:ext>
              </a:extLst>
            </p:cNvPr>
            <p:cNvCxnSpPr>
              <a:cxnSpLocks/>
            </p:cNvCxnSpPr>
            <p:nvPr/>
          </p:nvCxnSpPr>
          <p:spPr>
            <a:xfrm>
              <a:off x="8070346" y="1534318"/>
              <a:ext cx="11546" cy="103837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30C55F4-E6D3-06A7-FA45-322E323E6AB3}"/>
                </a:ext>
              </a:extLst>
            </p:cNvPr>
            <p:cNvCxnSpPr/>
            <p:nvPr/>
          </p:nvCxnSpPr>
          <p:spPr>
            <a:xfrm>
              <a:off x="6925822" y="2794000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04C67AC-AD69-2CFF-E154-5A217A58043C}"/>
                </a:ext>
              </a:extLst>
            </p:cNvPr>
            <p:cNvCxnSpPr/>
            <p:nvPr/>
          </p:nvCxnSpPr>
          <p:spPr>
            <a:xfrm>
              <a:off x="6927347" y="1923473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32C3B0F-0E76-FFC0-A0AE-EF05CD886A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6947" y="2179782"/>
              <a:ext cx="0" cy="1112261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3FF912FB-842F-136C-DC0A-111373BFF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208" t="32567" r="14375" b="50400"/>
            <a:stretch>
              <a:fillRect/>
            </a:stretch>
          </p:blipFill>
          <p:spPr>
            <a:xfrm>
              <a:off x="5976117" y="2133732"/>
              <a:ext cx="1008996" cy="456937"/>
            </a:xfrm>
            <a:prstGeom prst="rect">
              <a:avLst/>
            </a:prstGeom>
          </p:spPr>
        </p:pic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CAC2C5-8063-CFCF-1E98-FA95FB46C606}"/>
              </a:ext>
            </a:extLst>
          </p:cNvPr>
          <p:cNvCxnSpPr/>
          <p:nvPr/>
        </p:nvCxnSpPr>
        <p:spPr>
          <a:xfrm>
            <a:off x="685800" y="4222607"/>
            <a:ext cx="1524000" cy="0"/>
          </a:xfrm>
          <a:prstGeom prst="line">
            <a:avLst/>
          </a:prstGeom>
          <a:ln w="603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CA9A3A-05AA-7E28-AEFF-940C1217F7D9}"/>
              </a:ext>
            </a:extLst>
          </p:cNvPr>
          <p:cNvCxnSpPr/>
          <p:nvPr/>
        </p:nvCxnSpPr>
        <p:spPr>
          <a:xfrm>
            <a:off x="685800" y="3378308"/>
            <a:ext cx="1524000" cy="0"/>
          </a:xfrm>
          <a:prstGeom prst="line">
            <a:avLst/>
          </a:prstGeom>
          <a:ln w="603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36C63B4-FAAE-ECE8-BE37-73A000325D0E}"/>
              </a:ext>
            </a:extLst>
          </p:cNvPr>
          <p:cNvCxnSpPr>
            <a:cxnSpLocks/>
          </p:cNvCxnSpPr>
          <p:nvPr/>
        </p:nvCxnSpPr>
        <p:spPr>
          <a:xfrm flipV="1">
            <a:off x="990600" y="4668982"/>
            <a:ext cx="0" cy="1198418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0BCBB1E-AD3B-07D4-F0AA-C511943AA406}"/>
              </a:ext>
            </a:extLst>
          </p:cNvPr>
          <p:cNvCxnSpPr>
            <a:cxnSpLocks/>
          </p:cNvCxnSpPr>
          <p:nvPr/>
        </p:nvCxnSpPr>
        <p:spPr>
          <a:xfrm>
            <a:off x="1447800" y="4724400"/>
            <a:ext cx="0" cy="121920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BCDD06B-D123-25FE-7F3C-01440812AE68}"/>
              </a:ext>
            </a:extLst>
          </p:cNvPr>
          <p:cNvSpPr txBox="1"/>
          <p:nvPr/>
        </p:nvSpPr>
        <p:spPr>
          <a:xfrm>
            <a:off x="2368428" y="386781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DFA3563-E00D-6CE8-82D4-5F612376A2C6}"/>
              </a:ext>
            </a:extLst>
          </p:cNvPr>
          <p:cNvSpPr txBox="1"/>
          <p:nvPr/>
        </p:nvSpPr>
        <p:spPr>
          <a:xfrm>
            <a:off x="2400833" y="304090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1812B96-18B6-988F-E2DE-D1F1FA576312}"/>
              </a:ext>
            </a:extLst>
          </p:cNvPr>
          <p:cNvSpPr txBox="1"/>
          <p:nvPr/>
        </p:nvSpPr>
        <p:spPr>
          <a:xfrm>
            <a:off x="783652" y="5938982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α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61D0C5D-7360-7FDF-08A6-044A3B646B61}"/>
              </a:ext>
            </a:extLst>
          </p:cNvPr>
          <p:cNvSpPr txBox="1"/>
          <p:nvPr/>
        </p:nvSpPr>
        <p:spPr>
          <a:xfrm>
            <a:off x="1240051" y="595528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β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6ABEE4A-5FC4-65E0-2D5F-A46EECF123BC}"/>
              </a:ext>
            </a:extLst>
          </p:cNvPr>
          <p:cNvGrpSpPr/>
          <p:nvPr/>
        </p:nvGrpSpPr>
        <p:grpSpPr>
          <a:xfrm>
            <a:off x="3276202" y="3790085"/>
            <a:ext cx="2286398" cy="2056533"/>
            <a:chOff x="3276202" y="3790085"/>
            <a:chExt cx="2286398" cy="205653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6ED6499-9B4A-EFC3-9BBC-DF5D049D926B}"/>
                </a:ext>
              </a:extLst>
            </p:cNvPr>
            <p:cNvCxnSpPr/>
            <p:nvPr/>
          </p:nvCxnSpPr>
          <p:spPr>
            <a:xfrm>
              <a:off x="4038600" y="5334000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AC9CB91-A4AD-ACE7-2F38-74FD2806337F}"/>
                </a:ext>
              </a:extLst>
            </p:cNvPr>
            <p:cNvCxnSpPr/>
            <p:nvPr/>
          </p:nvCxnSpPr>
          <p:spPr>
            <a:xfrm>
              <a:off x="4038600" y="4489701"/>
              <a:ext cx="1524000" cy="0"/>
            </a:xfrm>
            <a:prstGeom prst="line">
              <a:avLst/>
            </a:prstGeom>
            <a:ln w="603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CD0A667-06A3-B542-0AF4-132BB339C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6909" y="4648200"/>
              <a:ext cx="0" cy="1198418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063DD44-C3FF-F322-3E17-D2A7835CD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05" t="18736" r="16375" b="65087"/>
            <a:stretch>
              <a:fillRect/>
            </a:stretch>
          </p:blipFill>
          <p:spPr>
            <a:xfrm>
              <a:off x="3276202" y="4716425"/>
              <a:ext cx="847702" cy="409323"/>
            </a:xfrm>
            <a:prstGeom prst="rect">
              <a:avLst/>
            </a:prstGeom>
          </p:spPr>
        </p:pic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49B6552-7082-41FD-F83A-DDA6A051CC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200" y="3790085"/>
              <a:ext cx="0" cy="1198418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B7B5009-344E-4439-F89D-152304A8F208}"/>
              </a:ext>
            </a:extLst>
          </p:cNvPr>
          <p:cNvGrpSpPr/>
          <p:nvPr/>
        </p:nvGrpSpPr>
        <p:grpSpPr>
          <a:xfrm>
            <a:off x="5651145" y="567801"/>
            <a:ext cx="6454501" cy="6167955"/>
            <a:chOff x="5651145" y="567801"/>
            <a:chExt cx="6454501" cy="6167955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EF17BFA-4A74-1741-AB16-29D1147BB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3730" y="1231251"/>
              <a:ext cx="1623135" cy="2313566"/>
            </a:xfrm>
            <a:prstGeom prst="straightConnector1">
              <a:avLst/>
            </a:prstGeom>
            <a:ln w="730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CCF284B-A38C-29ED-E9B1-1FF90AD60C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98959" y="1218443"/>
              <a:ext cx="1623135" cy="2313566"/>
            </a:xfrm>
            <a:prstGeom prst="straightConnector1">
              <a:avLst/>
            </a:prstGeom>
            <a:ln w="730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4BCD075-0330-8D6F-6209-F2B3963B8F49}"/>
                </a:ext>
              </a:extLst>
            </p:cNvPr>
            <p:cNvSpPr txBox="1"/>
            <p:nvPr/>
          </p:nvSpPr>
          <p:spPr>
            <a:xfrm>
              <a:off x="8219531" y="567801"/>
              <a:ext cx="7088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BT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5B10B73-F7F1-104D-ACC9-99497F0674E0}"/>
                </a:ext>
              </a:extLst>
            </p:cNvPr>
            <p:cNvSpPr txBox="1"/>
            <p:nvPr/>
          </p:nvSpPr>
          <p:spPr>
            <a:xfrm>
              <a:off x="11396798" y="574668"/>
              <a:ext cx="7088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BT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5201BF6A-A823-AB9D-DC94-57613E4A3C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1145" y="6093840"/>
              <a:ext cx="503763" cy="641916"/>
            </a:xfrm>
            <a:prstGeom prst="straightConnector1">
              <a:avLst/>
            </a:prstGeom>
            <a:ln w="730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2AAB998D-74D8-528C-515C-88DAC29322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6276" y="6054870"/>
              <a:ext cx="503763" cy="641916"/>
            </a:xfrm>
            <a:prstGeom prst="straightConnector1">
              <a:avLst/>
            </a:prstGeom>
            <a:ln w="730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24302FE-4011-5BBB-250B-B3A2FC2CE37F}"/>
              </a:ext>
            </a:extLst>
          </p:cNvPr>
          <p:cNvGrpSpPr/>
          <p:nvPr/>
        </p:nvGrpSpPr>
        <p:grpSpPr>
          <a:xfrm>
            <a:off x="4048136" y="3261882"/>
            <a:ext cx="5528934" cy="3473874"/>
            <a:chOff x="4048136" y="3261882"/>
            <a:chExt cx="5528934" cy="3473874"/>
          </a:xfrm>
        </p:grpSpPr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EB4852D1-5997-7F8B-EA1E-08FB1CB7A1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8136" y="3727016"/>
              <a:ext cx="1623135" cy="2313566"/>
            </a:xfrm>
            <a:prstGeom prst="straightConnector1">
              <a:avLst/>
            </a:prstGeom>
            <a:ln w="730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7576676F-8F09-B262-2797-FB5FB1FED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0820" y="3782797"/>
              <a:ext cx="1623135" cy="2313566"/>
            </a:xfrm>
            <a:prstGeom prst="straightConnector1">
              <a:avLst/>
            </a:prstGeom>
            <a:ln w="730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2D3422-041C-1D61-F1F9-B14D466A6E0F}"/>
                </a:ext>
              </a:extLst>
            </p:cNvPr>
            <p:cNvSpPr txBox="1"/>
            <p:nvPr/>
          </p:nvSpPr>
          <p:spPr>
            <a:xfrm>
              <a:off x="5655483" y="3261882"/>
              <a:ext cx="104868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 ≠ 0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C677615-CA42-F409-6E6E-143750B25846}"/>
                </a:ext>
              </a:extLst>
            </p:cNvPr>
            <p:cNvSpPr txBox="1"/>
            <p:nvPr/>
          </p:nvSpPr>
          <p:spPr>
            <a:xfrm>
              <a:off x="8528385" y="3276565"/>
              <a:ext cx="104868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 ≠ 0</a:t>
              </a: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691A2A71-BFC2-52E9-4EC6-C192074DC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200" y="6054870"/>
              <a:ext cx="503763" cy="641916"/>
            </a:xfrm>
            <a:prstGeom prst="straightConnector1">
              <a:avLst/>
            </a:prstGeom>
            <a:ln w="730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126CF7D1-AC30-DFFE-27CC-4F8279F2AD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9956" y="6093840"/>
              <a:ext cx="503763" cy="641916"/>
            </a:xfrm>
            <a:prstGeom prst="straightConnector1">
              <a:avLst/>
            </a:prstGeom>
            <a:ln w="730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34CDBD3-3C3F-801C-3194-26D76EBEB9B8}"/>
              </a:ext>
            </a:extLst>
          </p:cNvPr>
          <p:cNvSpPr txBox="1"/>
          <p:nvPr/>
        </p:nvSpPr>
        <p:spPr>
          <a:xfrm>
            <a:off x="10165312" y="35252"/>
            <a:ext cx="6399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42C00-CB1D-9A4B-DF2B-48151965832F}"/>
              </a:ext>
            </a:extLst>
          </p:cNvPr>
          <p:cNvSpPr txBox="1"/>
          <p:nvPr/>
        </p:nvSpPr>
        <p:spPr>
          <a:xfrm>
            <a:off x="33528" y="6550223"/>
            <a:ext cx="1585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White = Hydrogen</a:t>
            </a:r>
          </a:p>
        </p:txBody>
      </p:sp>
    </p:spTree>
    <p:extLst>
      <p:ext uri="{BB962C8B-B14F-4D97-AF65-F5344CB8AC3E}">
        <p14:creationId xmlns:p14="http://schemas.microsoft.com/office/powerpoint/2010/main" val="248359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971D-079E-B866-F38A-5446DBCB7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Configuration interaction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3C038F-81F7-3F4D-8D87-2569761BC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194" y="3693907"/>
            <a:ext cx="3000794" cy="695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7B12B1-B890-E594-A8E7-6D57FA9BB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722" y="4770329"/>
            <a:ext cx="3010320" cy="724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46A52-588E-ACAA-4033-7EAAB7E0B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460079"/>
            <a:ext cx="2972215" cy="485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8B146E-5713-CA1A-723E-1D8412B6D4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187" y="4247535"/>
            <a:ext cx="2867425" cy="809738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D330FA18-4031-ACE0-2B78-2511DE5AF0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90600" y="4267778"/>
            <a:ext cx="2841977" cy="28955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EB4FA6-21EF-D852-7A80-C7E02BE117A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731" t="17251" r="25341" b="60742"/>
          <a:stretch>
            <a:fillRect/>
          </a:stretch>
        </p:blipFill>
        <p:spPr>
          <a:xfrm>
            <a:off x="7924800" y="5132330"/>
            <a:ext cx="3377929" cy="116649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2FEB3-E2F4-0A3A-636D-09A24B5E158C}"/>
              </a:ext>
            </a:extLst>
          </p:cNvPr>
          <p:cNvSpPr txBox="1">
            <a:spLocks/>
          </p:cNvSpPr>
          <p:nvPr/>
        </p:nvSpPr>
        <p:spPr>
          <a:xfrm>
            <a:off x="510763" y="1447801"/>
            <a:ext cx="10963656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/>
              <a:t>HF Calculated to be -1.133 Hartrees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/>
              <a:t>Exact energy is -1.174 Hartrees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/>
              <a:t>“CI” calculated to be -1.174 Hartrees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sz="2600"/>
              <a:t>We actually just did FCI</a:t>
            </a:r>
          </a:p>
          <a:p>
            <a:pPr marL="914400" lvl="2" indent="-457200">
              <a:buFont typeface="Arial" panose="020B0604020202020204" pitchFamily="34" charset="0"/>
              <a:buChar char="•"/>
            </a:pPr>
            <a:r>
              <a:rPr lang="en-US" sz="2600"/>
              <a:t>Why?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E5E204-38EF-2D9E-A2C4-A0A3CE91D259}"/>
              </a:ext>
            </a:extLst>
          </p:cNvPr>
          <p:cNvSpPr txBox="1"/>
          <p:nvPr/>
        </p:nvSpPr>
        <p:spPr>
          <a:xfrm>
            <a:off x="33528" y="6550223"/>
            <a:ext cx="1585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White = Hydrogen</a:t>
            </a:r>
          </a:p>
        </p:txBody>
      </p:sp>
    </p:spTree>
    <p:extLst>
      <p:ext uri="{BB962C8B-B14F-4D97-AF65-F5344CB8AC3E}">
        <p14:creationId xmlns:p14="http://schemas.microsoft.com/office/powerpoint/2010/main" val="317076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0710-A32B-5F92-6304-E73836031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C8030-EE40-691A-CCED-76FF5A083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 want to awknoledge ChatGPT, Kahoot, and Szabo and Ostlund</a:t>
            </a:r>
          </a:p>
        </p:txBody>
      </p:sp>
    </p:spTree>
    <p:extLst>
      <p:ext uri="{BB962C8B-B14F-4D97-AF65-F5344CB8AC3E}">
        <p14:creationId xmlns:p14="http://schemas.microsoft.com/office/powerpoint/2010/main" val="1741304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144C1-26A0-D66C-7E11-0DD38CCF4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981C63-8C60-4C4B-26BB-FD6D167C9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562084"/>
            <a:ext cx="8507012" cy="1362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E89050-05C2-0802-2E70-D27B4853E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3513812"/>
            <a:ext cx="4286848" cy="857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C2E2D3-F340-B5C1-BE6D-E11E4EFC1E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441" y="2436961"/>
            <a:ext cx="4706007" cy="8859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3C8B1F-6BBC-ECAB-0A00-4A87D4BEC8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576" y="1585658"/>
            <a:ext cx="5391902" cy="54300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723DEB6-EFB7-5197-AB37-2644207B9CAA}"/>
              </a:ext>
            </a:extLst>
          </p:cNvPr>
          <p:cNvSpPr/>
          <p:nvPr/>
        </p:nvSpPr>
        <p:spPr>
          <a:xfrm>
            <a:off x="4885057" y="1361858"/>
            <a:ext cx="1984333" cy="990600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05E13468-2555-9F55-8304-266096D52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80" t="52880" r="24540"/>
          <a:stretch>
            <a:fillRect/>
          </a:stretch>
        </p:blipFill>
        <p:spPr>
          <a:xfrm>
            <a:off x="8795648" y="4619073"/>
            <a:ext cx="3217354" cy="124828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10D203-AC49-4B87-BAD2-4CEF6F227A87}"/>
              </a:ext>
            </a:extLst>
          </p:cNvPr>
          <p:cNvCxnSpPr/>
          <p:nvPr/>
        </p:nvCxnSpPr>
        <p:spPr>
          <a:xfrm flipV="1">
            <a:off x="9601200" y="3733800"/>
            <a:ext cx="1600200" cy="2743200"/>
          </a:xfrm>
          <a:prstGeom prst="straightConnector1">
            <a:avLst/>
          </a:prstGeom>
          <a:ln w="730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A523D7-6EFC-2364-6E20-A865DB1B4868}"/>
              </a:ext>
            </a:extLst>
          </p:cNvPr>
          <p:cNvSpPr txBox="1"/>
          <p:nvPr/>
        </p:nvSpPr>
        <p:spPr>
          <a:xfrm>
            <a:off x="10424391" y="3198167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</a:p>
        </p:txBody>
      </p:sp>
    </p:spTree>
    <p:extLst>
      <p:ext uri="{BB962C8B-B14F-4D97-AF65-F5344CB8AC3E}">
        <p14:creationId xmlns:p14="http://schemas.microsoft.com/office/powerpoint/2010/main" val="830743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EA529-E0BB-AC19-1013-08D5778C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A0DD8E-FD1A-4483-97B5-D151B6120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981200"/>
            <a:ext cx="7763958" cy="504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552E65-4765-6341-38DE-A3F523C4E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1" y="4162623"/>
            <a:ext cx="3057952" cy="800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DF124D-802A-8F0C-2A7E-6C39C05A2A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339" y="2591080"/>
            <a:ext cx="2610214" cy="1419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0CC862-2B34-78C5-08D8-93EC8AECC2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5334128"/>
            <a:ext cx="4286848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2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3245-8315-1DE5-48AD-FAEE1FFA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6B50E-56C1-9F25-2CA9-C7E8B2748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20B31-2B06-3FCA-2EF7-26F113779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86" b="83750"/>
          <a:stretch>
            <a:fillRect/>
          </a:stretch>
        </p:blipFill>
        <p:spPr>
          <a:xfrm>
            <a:off x="805873" y="2514600"/>
            <a:ext cx="6692499" cy="457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E94FAB-EB73-7FF4-5C7E-707D1E1EB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36" b="61591"/>
          <a:stretch>
            <a:fillRect/>
          </a:stretch>
        </p:blipFill>
        <p:spPr>
          <a:xfrm>
            <a:off x="838200" y="3276600"/>
            <a:ext cx="6692499" cy="762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3770A3-C9ED-4E37-DE4B-928AD5687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6" t="44318" r="18022" b="40909"/>
          <a:stretch>
            <a:fillRect/>
          </a:stretch>
        </p:blipFill>
        <p:spPr>
          <a:xfrm>
            <a:off x="2819400" y="4391892"/>
            <a:ext cx="4191001" cy="76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68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D12D-3D5A-CF82-0DA4-ED1ADF17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page 52 in Szabo if want to do derivation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6D6ACB-7D61-3DCB-6D36-D0198749B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722" y="3343183"/>
            <a:ext cx="8097380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911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25EF-EEFE-A843-8249-C234A7A1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3EA34-1904-3D2C-9F61-A29067CC6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4" t="78947" r="29621"/>
          <a:stretch>
            <a:fillRect/>
          </a:stretch>
        </p:blipFill>
        <p:spPr>
          <a:xfrm>
            <a:off x="2133600" y="5410200"/>
            <a:ext cx="4267200" cy="9144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66EA491-3AB0-CDE1-6764-2C9D08C9B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0" t="59649" r="31472" b="21052"/>
          <a:stretch>
            <a:fillRect/>
          </a:stretch>
        </p:blipFill>
        <p:spPr>
          <a:xfrm>
            <a:off x="3250994" y="4057649"/>
            <a:ext cx="4104438" cy="838200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26017086-2E78-1DE9-49FB-9C5919F73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4" t="31579" r="31598" b="43860"/>
          <a:stretch>
            <a:fillRect/>
          </a:stretch>
        </p:blipFill>
        <p:spPr>
          <a:xfrm>
            <a:off x="2971800" y="2638425"/>
            <a:ext cx="4104439" cy="1066800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82F73A67-B05F-4CAA-5AE6-8E85BFB55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7"/>
          <a:stretch>
            <a:fillRect/>
          </a:stretch>
        </p:blipFill>
        <p:spPr>
          <a:xfrm>
            <a:off x="2938044" y="723901"/>
            <a:ext cx="823386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271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3ACB-C7C3-EA22-B627-AE5FB285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7B1126-88F4-535D-D3A1-66DB4EE78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58" t="29825" b="49123"/>
          <a:stretch>
            <a:fillRect/>
          </a:stretch>
        </p:blipFill>
        <p:spPr>
          <a:xfrm>
            <a:off x="4571999" y="3124200"/>
            <a:ext cx="5627688" cy="9144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B3D13FFD-937C-607F-D934-3EDD5682C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01" t="50877" r="18426" b="26316"/>
          <a:stretch>
            <a:fillRect/>
          </a:stretch>
        </p:blipFill>
        <p:spPr>
          <a:xfrm>
            <a:off x="4571999" y="4191000"/>
            <a:ext cx="4267201" cy="990600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E7DCB22-9C52-8284-33D2-EE73BD62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30" t="71930" r="25851"/>
          <a:stretch>
            <a:fillRect/>
          </a:stretch>
        </p:blipFill>
        <p:spPr>
          <a:xfrm>
            <a:off x="4800600" y="5257800"/>
            <a:ext cx="35814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933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0AC3-7C09-BD9C-9C6F-DCDDCF05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606E6E-1297-294A-F7E4-98BFF58CDD7B}"/>
              </a:ext>
            </a:extLst>
          </p:cNvPr>
          <p:cNvCxnSpPr/>
          <p:nvPr/>
        </p:nvCxnSpPr>
        <p:spPr>
          <a:xfrm>
            <a:off x="2819400" y="3657600"/>
            <a:ext cx="1524000" cy="0"/>
          </a:xfrm>
          <a:prstGeom prst="line">
            <a:avLst/>
          </a:prstGeom>
          <a:ln w="603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46CC39-695D-3DBE-9890-62112FD2D354}"/>
              </a:ext>
            </a:extLst>
          </p:cNvPr>
          <p:cNvCxnSpPr/>
          <p:nvPr/>
        </p:nvCxnSpPr>
        <p:spPr>
          <a:xfrm>
            <a:off x="2819400" y="2813301"/>
            <a:ext cx="1524000" cy="0"/>
          </a:xfrm>
          <a:prstGeom prst="line">
            <a:avLst/>
          </a:prstGeom>
          <a:ln w="603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A589EB-8C5C-A7A8-F3CA-E7DEDB697A76}"/>
              </a:ext>
            </a:extLst>
          </p:cNvPr>
          <p:cNvCxnSpPr>
            <a:cxnSpLocks/>
          </p:cNvCxnSpPr>
          <p:nvPr/>
        </p:nvCxnSpPr>
        <p:spPr>
          <a:xfrm flipV="1">
            <a:off x="3124200" y="4103975"/>
            <a:ext cx="0" cy="1198418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CEE7FEE-3443-E2E7-8B1A-D204B743DCD7}"/>
              </a:ext>
            </a:extLst>
          </p:cNvPr>
          <p:cNvCxnSpPr>
            <a:cxnSpLocks/>
          </p:cNvCxnSpPr>
          <p:nvPr/>
        </p:nvCxnSpPr>
        <p:spPr>
          <a:xfrm>
            <a:off x="3581400" y="4159393"/>
            <a:ext cx="0" cy="121920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0BC575-65E3-39AC-6CB7-9949F1C728D4}"/>
              </a:ext>
            </a:extLst>
          </p:cNvPr>
          <p:cNvSpPr txBox="1"/>
          <p:nvPr/>
        </p:nvSpPr>
        <p:spPr>
          <a:xfrm>
            <a:off x="4502028" y="3302808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57A0E5-1E9D-0EF8-4DD1-33502126DA66}"/>
              </a:ext>
            </a:extLst>
          </p:cNvPr>
          <p:cNvSpPr txBox="1"/>
          <p:nvPr/>
        </p:nvSpPr>
        <p:spPr>
          <a:xfrm>
            <a:off x="4534433" y="247589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900C3-05C3-ED64-2BCD-176C8C593916}"/>
              </a:ext>
            </a:extLst>
          </p:cNvPr>
          <p:cNvSpPr txBox="1"/>
          <p:nvPr/>
        </p:nvSpPr>
        <p:spPr>
          <a:xfrm>
            <a:off x="2917252" y="5373975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0DC6C5-E265-8ED5-D20D-F33D20A701EE}"/>
              </a:ext>
            </a:extLst>
          </p:cNvPr>
          <p:cNvSpPr txBox="1"/>
          <p:nvPr/>
        </p:nvSpPr>
        <p:spPr>
          <a:xfrm>
            <a:off x="3373651" y="539028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β</a:t>
            </a:r>
          </a:p>
        </p:txBody>
      </p:sp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09EF87F5-7543-4A98-8D1C-6C02351601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46730" y="1981200"/>
            <a:ext cx="2841977" cy="289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4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AF68-C58B-948E-75FC-45443A7E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1C3D9-9725-44D4-4071-EACB25E3D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A6D2F77-C831-8463-F459-18CB8CEB3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667000"/>
            <a:ext cx="4730682" cy="245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0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305B-E265-7D70-FA55-848BEC6D5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F18336-C3D3-D49C-7694-790E706EF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82" y="1597152"/>
            <a:ext cx="318135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C72D2-7665-C767-8383-EC610D7CCE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0" y="1600200"/>
            <a:ext cx="69532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479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662F-5D7E-8B1F-3DE7-4235CC91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A444C8-E788-B9AF-02AE-FED90C16B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1" t="24561" r="26725" b="50000"/>
          <a:stretch>
            <a:fillRect/>
          </a:stretch>
        </p:blipFill>
        <p:spPr>
          <a:xfrm>
            <a:off x="3810000" y="2133601"/>
            <a:ext cx="3886200" cy="1104901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EC45AAC-53D3-DD3E-9D7F-5F8731057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1" t="49123" r="22087" b="25439"/>
          <a:stretch>
            <a:fillRect/>
          </a:stretch>
        </p:blipFill>
        <p:spPr>
          <a:xfrm>
            <a:off x="4038600" y="3543300"/>
            <a:ext cx="4267200" cy="1104900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B140EF7-3986-7CE5-91A0-93CE2BBAF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4" t="74562" r="27652"/>
          <a:stretch>
            <a:fillRect/>
          </a:stretch>
        </p:blipFill>
        <p:spPr>
          <a:xfrm>
            <a:off x="4151375" y="5334000"/>
            <a:ext cx="38862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76254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{BF994255-563F-413D-B889-FA7B3952113B}0f45c1b8-b519-4737-8f12-a18148944ef7-TFfcaeb239-e0ad-43c4-9739-4084ddd7c62fe496f549_win32</Template>
  <TotalTime>5825</TotalTime>
  <Words>659</Words>
  <Application>Microsoft Office PowerPoint</Application>
  <PresentationFormat>Widescreen</PresentationFormat>
  <Paragraphs>137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Arial</vt:lpstr>
      <vt:lpstr>Bahnschrift SemiLight</vt:lpstr>
      <vt:lpstr>Times New Roman</vt:lpstr>
      <vt:lpstr>Blockwork elegance</vt:lpstr>
      <vt:lpstr>Energy of Molecules through Quantum Mechanics</vt:lpstr>
      <vt:lpstr>Why do we care</vt:lpstr>
      <vt:lpstr>Molecular Schrödinger Equation</vt:lpstr>
      <vt:lpstr>Born-OppenHeimer Approximation</vt:lpstr>
      <vt:lpstr>Spin</vt:lpstr>
      <vt:lpstr>Spin</vt:lpstr>
      <vt:lpstr>Slater Determinant</vt:lpstr>
      <vt:lpstr>Probability Density</vt:lpstr>
      <vt:lpstr>Single particle MO representations</vt:lpstr>
      <vt:lpstr>Variational Principle</vt:lpstr>
      <vt:lpstr>Variational Principle and Secular equations</vt:lpstr>
      <vt:lpstr>Energy minimization </vt:lpstr>
      <vt:lpstr>Huckel Theory and conjugated molecules</vt:lpstr>
      <vt:lpstr>Huckel Theory For C2H4</vt:lpstr>
      <vt:lpstr>Huckel Theory and conjugated molecules</vt:lpstr>
      <vt:lpstr>Huckel Theory and conjugated molecules</vt:lpstr>
      <vt:lpstr>Extension to H2 molecule</vt:lpstr>
      <vt:lpstr>H2 molecule orbitals</vt:lpstr>
      <vt:lpstr>Hartree Fock Approximation</vt:lpstr>
      <vt:lpstr>Hartree Fock Nomeclature </vt:lpstr>
      <vt:lpstr>Analogy to Secular Equations</vt:lpstr>
      <vt:lpstr>HArtEE Fock Energy of H2</vt:lpstr>
      <vt:lpstr>How do We do Better</vt:lpstr>
      <vt:lpstr>Including Correlation</vt:lpstr>
      <vt:lpstr>Including Correlation</vt:lpstr>
      <vt:lpstr>Brillouins theorem and Restricted Wavenfunctions</vt:lpstr>
      <vt:lpstr>H2 Molecule </vt:lpstr>
      <vt:lpstr>Configuration interaction</vt:lpstr>
      <vt:lpstr>Thank you</vt:lpstr>
      <vt:lpstr>PowerPoint Presentation</vt:lpstr>
      <vt:lpstr>PowerPoint Presentation</vt:lpstr>
      <vt:lpstr>PowerPoint Presentation</vt:lpstr>
      <vt:lpstr>From page 52 in Szabo if want to do derivation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D McLane</dc:creator>
  <cp:lastModifiedBy>Nathan D McLane</cp:lastModifiedBy>
  <cp:revision>139</cp:revision>
  <dcterms:created xsi:type="dcterms:W3CDTF">2026-06-03T19:51:17Z</dcterms:created>
  <dcterms:modified xsi:type="dcterms:W3CDTF">2026-08-21T17:57:50Z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